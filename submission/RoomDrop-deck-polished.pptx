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2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1" r:id="rId14"/>
  </p:sldIdLst>
  <p:sldSz cx="9144000" cy="5143500" type="screen16x9"/>
  <p:notesSz cx="6858000" cy="9144000"/>
  <p:embeddedFontLst>
    <p:embeddedFont>
      <p:font typeface="Google Sans Flex" panose="020B0604020202020204" charset="0"/>
      <p:regular r:id="rId16"/>
      <p:bold r:id="rId17"/>
    </p:embeddedFont>
    <p:embeddedFont>
      <p:font typeface="Google Sans Flex Medium" panose="020B0604020202020204" charset="0"/>
      <p:regular r:id="rId18"/>
      <p:bold r:id="rId19"/>
    </p:embeddedFont>
    <p:embeddedFont>
      <p:font typeface="Google Sans Flex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github.com/pohlipit23/hotel-price-hunter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hotel-price-hunter-2qbcpylngq-as.a.run.app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Triple-8</a:t>
            </a: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 SemiBold"/>
              </a:rPr>
              <a:t>Product: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 </a:t>
            </a:r>
            <a:r>
              <a:rPr lang="en-GB" sz="1800" dirty="0" err="1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Pete</a:t>
            </a:r>
            <a:r>
              <a:rPr lang="en-GB" sz="14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(team: Pete &amp; AJ)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500" dirty="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Travellers book hotels early but fear missing a cheaper rate later. </a:t>
            </a:r>
            <a:r>
              <a:rPr lang="en-GB" sz="1500" dirty="0" err="1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RoomDrop</a:t>
            </a:r>
            <a:r>
              <a:rPr lang="en-GB" sz="1500" dirty="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lets them book early and still catch the drop. Peace of Mind Guaranteed!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RoomDrop logo 1101" descr="RoomDrop logo">
            <a:extLst>
              <a:ext uri="{FF2B5EF4-FFF2-40B4-BE49-F238E27FC236}">
                <a16:creationId xmlns:a16="http://schemas.microsoft.com/office/drawing/2014/main" id="{7701D5D4-B7A6-A97C-389B-DF0A27154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644" y="2993002"/>
            <a:ext cx="1746956" cy="357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RoomDrop in 10 seconds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600200"/>
            <a:ext cx="2514600" cy="513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ext 1102"/>
          <p:cNvSpPr txBox="1"/>
          <p:nvPr/>
        </p:nvSpPr>
        <p:spPr>
          <a:xfrm>
            <a:off x="548640" y="2331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Still catch the drop.</a:t>
            </a:r>
          </a:p>
        </p:txBody>
      </p:sp>
      <p:sp>
        <p:nvSpPr>
          <p:cNvPr id="1103" name="Text 1103"/>
          <p:cNvSpPr txBox="1"/>
          <p:nvPr/>
        </p:nvSpPr>
        <p:spPr>
          <a:xfrm>
            <a:off x="548640" y="32461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10-second tour of the live prototype: find a drop, peek, ask Gemini, confirm.</a:t>
            </a:r>
          </a:p>
        </p:txBody>
      </p:sp>
      <p:sp>
        <p:nvSpPr>
          <p:cNvPr id="1104" name="Play badge 1104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Play glyph 1105"/>
          <p:cNvSpPr/>
          <p:nvPr/>
        </p:nvSpPr>
        <p:spPr>
          <a:xfrm>
            <a:off x="635508" y="4224528"/>
            <a:ext cx="128016" cy="14630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20" y="8"/>
                </a:moveTo>
                <a:lnTo>
                  <a:pt x="90" y="50"/>
                </a:lnTo>
                <a:lnTo>
                  <a:pt x="20" y="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6" name="Text 1106"/>
          <p:cNvSpPr txBox="1"/>
          <p:nvPr/>
        </p:nvSpPr>
        <p:spPr>
          <a:xfrm>
            <a:off x="914400" y="414223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Full 3-4 min demo: link on the final slide</a:t>
            </a:r>
          </a:p>
        </p:txBody>
      </p:sp>
      <p:sp>
        <p:nvSpPr>
          <p:cNvPr id="1107" name="Video frame 1107"/>
          <p:cNvSpPr/>
          <p:nvPr/>
        </p:nvSpPr>
        <p:spPr>
          <a:xfrm>
            <a:off x="3510465" y="1197864"/>
            <a:ext cx="2123071" cy="3602736"/>
          </a:xfrm>
          <a:prstGeom prst="roundRect">
            <a:avLst>
              <a:gd name="adj" fmla="val 7333"/>
            </a:avLst>
          </a:prstGeom>
          <a:solidFill>
            <a:srgbClr val="1B2A3A"/>
          </a:solidFill>
          <a:ln>
            <a:noFill/>
          </a:ln>
          <a:effectLst>
            <a:outerShdw blurRad="128016" dist="36576" dir="5400000" algn="t" rotWithShape="0">
              <a:srgbClr val="1B2A3A">
                <a:alpha val="28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08" name="roomdrop_short.mp4" descr="RoomDrop 10 second pro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74473" y="1261872"/>
            <a:ext cx="1995055" cy="3474720"/>
          </a:xfrm>
          <a:prstGeom prst="rect">
            <a:avLst/>
          </a:prstGeom>
        </p:spPr>
      </p:pic>
      <p:sp>
        <p:nvSpPr>
          <p:cNvPr id="1109" name="Stamp ring 1109"/>
          <p:cNvSpPr/>
          <p:nvPr/>
        </p:nvSpPr>
        <p:spPr>
          <a:xfrm rot="-600000">
            <a:off x="6537960" y="150876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8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Stamp 1110"/>
          <p:cNvSpPr/>
          <p:nvPr/>
        </p:nvSpPr>
        <p:spPr>
          <a:xfrm rot="-600000">
            <a:off x="6688836" y="1659636"/>
            <a:ext cx="1207008" cy="1207008"/>
          </a:xfrm>
          <a:prstGeom prst="ellipse">
            <a:avLst/>
          </a:prstGeom>
          <a:noFill/>
          <a:ln w="12700">
            <a:solidFill>
              <a:srgbClr val="D95241"/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3" spc="6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BEST DROP</a:t>
            </a:r>
          </a:p>
          <a:p>
            <a:pPr mar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2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-217.55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2" spc="8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AED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6172200" y="3337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Real Altovo quotation</a:t>
            </a:r>
          </a:p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Impiana KLCC Hotel, Kuala Lumpur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AED 506.93  to  </a:t>
            </a: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AED 289.38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0" fill="hold"/>
                                        <p:tgtEl>
                                          <p:spTgt spid="1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0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98448"/>
            <a:ext cx="2834640" cy="57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ext 1102"/>
          <p:cNvSpPr txBox="1"/>
          <p:nvPr/>
        </p:nvSpPr>
        <p:spPr>
          <a:xfrm>
            <a:off x="566928" y="19659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 Still catch the drop.</a:t>
            </a:r>
          </a:p>
        </p:txBody>
      </p:sp>
      <p:pic>
        <p:nvPicPr>
          <p:cNvPr id="1103" name="Key bullet 1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679192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Text 1104"/>
          <p:cNvSpPr txBox="1"/>
          <p:nvPr/>
        </p:nvSpPr>
        <p:spPr>
          <a:xfrm>
            <a:off x="1097280" y="26060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 your hotel early. RoomDrop keeps re-shopping the same stay for you.</a:t>
            </a:r>
          </a:p>
        </p:txBody>
      </p:sp>
      <p:pic>
        <p:nvPicPr>
          <p:cNvPr id="1105" name="Key bullet 1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300984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Text 1106"/>
          <p:cNvSpPr txBox="1"/>
          <p:nvPr/>
        </p:nvSpPr>
        <p:spPr>
          <a:xfrm>
            <a:off x="1097280" y="32278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cheaper rate appears? See the drop, the saving and any flexibility you give up.</a:t>
            </a:r>
          </a:p>
        </p:txBody>
      </p:sp>
      <p:pic>
        <p:nvPicPr>
          <p:cNvPr id="1107" name="Key bullet 11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922776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Text 1108"/>
          <p:cNvSpPr txBox="1"/>
          <p:nvPr/>
        </p:nvSpPr>
        <p:spPr>
          <a:xfrm>
            <a:off x="1097280" y="3849624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Ask Gemini, tick the trade-off, confirm in one tap.</a:t>
            </a:r>
          </a:p>
        </p:txBody>
      </p:sp>
      <p:sp>
        <p:nvSpPr>
          <p:cNvPr id="1109" name="Google Cloud card 1109"/>
          <p:cNvSpPr/>
          <p:nvPr/>
        </p:nvSpPr>
        <p:spPr>
          <a:xfrm>
            <a:off x="5349240" y="1298448"/>
            <a:ext cx="3337560" cy="3474720"/>
          </a:xfrm>
          <a:prstGeom prst="roundRect">
            <a:avLst>
              <a:gd name="adj" fmla="val 3287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Text 1110"/>
          <p:cNvSpPr txBox="1"/>
          <p:nvPr/>
        </p:nvSpPr>
        <p:spPr>
          <a:xfrm>
            <a:off x="5577840" y="146304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Built on Google Cloud</a:t>
            </a:r>
          </a:p>
        </p:txBody>
      </p:sp>
      <p:sp>
        <p:nvSpPr>
          <p:cNvPr id="1111" name="Icon badge 1111"/>
          <p:cNvSpPr/>
          <p:nvPr/>
        </p:nvSpPr>
        <p:spPr>
          <a:xfrm>
            <a:off x="5577840" y="1947672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2" name="Icon cloud 1112"/>
          <p:cNvSpPr/>
          <p:nvPr/>
        </p:nvSpPr>
        <p:spPr>
          <a:xfrm>
            <a:off x="5678790" y="2048622"/>
            <a:ext cx="218724" cy="218724"/>
          </a:xfrm>
          <a:prstGeom prst="cloud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3" name="Text 1113"/>
          <p:cNvSpPr txBox="1"/>
          <p:nvPr/>
        </p:nvSpPr>
        <p:spPr>
          <a:xfrm>
            <a:off x="6153912" y="19202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 app, private agency console and the price-watch job</a:t>
            </a:r>
          </a:p>
        </p:txBody>
      </p:sp>
      <p:sp>
        <p:nvSpPr>
          <p:cNvPr id="1114" name="Icon badge 1114"/>
          <p:cNvSpPr/>
          <p:nvPr/>
        </p:nvSpPr>
        <p:spPr>
          <a:xfrm>
            <a:off x="5577840" y="2880360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Icon star4 1115"/>
          <p:cNvSpPr/>
          <p:nvPr/>
        </p:nvSpPr>
        <p:spPr>
          <a:xfrm>
            <a:off x="5678790" y="2981310"/>
            <a:ext cx="218724" cy="218724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Text 1116"/>
          <p:cNvSpPr txBox="1"/>
          <p:nvPr/>
        </p:nvSpPr>
        <p:spPr>
          <a:xfrm>
            <a:off x="6153912" y="2852928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 drop adviser: structured JSON, validated by the server</a:t>
            </a:r>
          </a:p>
        </p:txBody>
      </p:sp>
      <p:sp>
        <p:nvSpPr>
          <p:cNvPr id="1117" name="Icon badge 1117"/>
          <p:cNvSpPr/>
          <p:nvPr/>
        </p:nvSpPr>
        <p:spPr>
          <a:xfrm>
            <a:off x="5577840" y="3813048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Icon can 1118"/>
          <p:cNvSpPr/>
          <p:nvPr/>
        </p:nvSpPr>
        <p:spPr>
          <a:xfrm>
            <a:off x="5678790" y="3913998"/>
            <a:ext cx="218724" cy="218724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9" name="Text 1119"/>
          <p:cNvSpPr txBox="1"/>
          <p:nvPr/>
        </p:nvSpPr>
        <p:spPr>
          <a:xfrm>
            <a:off x="6153912" y="3785616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Firestore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Bookings, drops, Drop Watch consent and sessions, with transactions and TTL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Opportunity card 1102"/>
          <p:cNvSpPr/>
          <p:nvPr/>
        </p:nvSpPr>
        <p:spPr>
          <a:xfrm>
            <a:off x="45720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Icon badge 1103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4" name="Icon bolt 1104"/>
          <p:cNvSpPr/>
          <p:nvPr/>
        </p:nvSpPr>
        <p:spPr>
          <a:xfrm>
            <a:off x="713964" y="1509492"/>
            <a:ext cx="199705" cy="199705"/>
          </a:xfrm>
          <a:prstGeom prst="lightningBol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Text 1105"/>
          <p:cNvSpPr txBox="1"/>
          <p:nvPr/>
        </p:nvSpPr>
        <p:spPr>
          <a:xfrm>
            <a:off x="111556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different is it from any of the other existing ideas?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4008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Alerts only notify; RoomDrop shows a real drop with the saving and the flexibility you give up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Re-shops the exact stay you booked, no manual cancel-and-rebook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Runs on the agency's own quotation and supplier feed, not another meta-search</a:t>
            </a:r>
          </a:p>
        </p:txBody>
      </p:sp>
      <p:sp>
        <p:nvSpPr>
          <p:cNvPr id="1107" name="Opportunity card 1107"/>
          <p:cNvSpPr/>
          <p:nvPr/>
        </p:nvSpPr>
        <p:spPr>
          <a:xfrm>
            <a:off x="326898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8" name="Icon badge 1108"/>
          <p:cNvSpPr/>
          <p:nvPr/>
        </p:nvSpPr>
        <p:spPr>
          <a:xfrm>
            <a:off x="343357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9" name="Icon down 1109"/>
          <p:cNvSpPr/>
          <p:nvPr/>
        </p:nvSpPr>
        <p:spPr>
          <a:xfrm>
            <a:off x="3525744" y="1509492"/>
            <a:ext cx="199705" cy="199705"/>
          </a:xfrm>
          <a:prstGeom prst="downArrow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Text 1110"/>
          <p:cNvSpPr txBox="1"/>
          <p:nvPr/>
        </p:nvSpPr>
        <p:spPr>
          <a:xfrm>
            <a:off x="392734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be able to solve the problem?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345186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Starts from your current booking: same hotel, dates and guests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Ranks three drops by estimated saving and flags non-refundable risk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answers "should I switch?" using only the facts on screen</a:t>
            </a:r>
          </a:p>
        </p:txBody>
      </p:sp>
      <p:sp>
        <p:nvSpPr>
          <p:cNvPr id="1112" name="Opportunity card 1112"/>
          <p:cNvSpPr/>
          <p:nvPr/>
        </p:nvSpPr>
        <p:spPr>
          <a:xfrm>
            <a:off x="608076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3" name="Icon badge 1113"/>
          <p:cNvSpPr/>
          <p:nvPr/>
        </p:nvSpPr>
        <p:spPr>
          <a:xfrm>
            <a:off x="624535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4" name="Icon star5 1114"/>
          <p:cNvSpPr/>
          <p:nvPr/>
        </p:nvSpPr>
        <p:spPr>
          <a:xfrm>
            <a:off x="6337524" y="1509492"/>
            <a:ext cx="199705" cy="199705"/>
          </a:xfrm>
          <a:prstGeom prst="star5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Text 1115"/>
          <p:cNvSpPr txBox="1"/>
          <p:nvPr/>
        </p:nvSpPr>
        <p:spPr>
          <a:xfrm>
            <a:off x="673912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</a:p>
        </p:txBody>
      </p:sp>
      <p:sp>
        <p:nvSpPr>
          <p:cNvPr id="1116" name="Text 1116"/>
          <p:cNvSpPr txBox="1"/>
          <p:nvPr/>
        </p:nvSpPr>
        <p:spPr>
          <a:xfrm>
            <a:off x="626364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 early, never overpay: every saving shown as a stamped drop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Trustworthy AI: Gemini cannot book, refund or invent prices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engine, two markets: traveller savings and agency margin</a:t>
            </a:r>
          </a:p>
        </p:txBody>
      </p:sp>
      <p:sp>
        <p:nvSpPr>
          <p:cNvPr id="1117" name="Market strip 1117"/>
          <p:cNvSpPr/>
          <p:nvPr/>
        </p:nvSpPr>
        <p:spPr>
          <a:xfrm>
            <a:off x="457200" y="4160520"/>
            <a:ext cx="4046220" cy="566928"/>
          </a:xfrm>
          <a:prstGeom prst="roundRect">
            <a:avLst>
              <a:gd name="adj" fmla="val 19354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Pill 1118"/>
          <p:cNvSpPr/>
          <p:nvPr/>
        </p:nvSpPr>
        <p:spPr>
          <a:xfrm>
            <a:off x="594360" y="43159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9524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B2C</a:t>
            </a:r>
          </a:p>
        </p:txBody>
      </p:sp>
      <p:sp>
        <p:nvSpPr>
          <p:cNvPr id="1119" name="Text 1119"/>
          <p:cNvSpPr txBox="1"/>
          <p:nvPr/>
        </p:nvSpPr>
        <p:spPr>
          <a:xfrm>
            <a:off x="1280160" y="4160520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Travellers lock in early and still catch the drop</a:t>
            </a:r>
          </a:p>
        </p:txBody>
      </p:sp>
      <p:sp>
        <p:nvSpPr>
          <p:cNvPr id="1120" name="Market strip 1120"/>
          <p:cNvSpPr/>
          <p:nvPr/>
        </p:nvSpPr>
        <p:spPr>
          <a:xfrm>
            <a:off x="4640580" y="4160520"/>
            <a:ext cx="4046220" cy="566928"/>
          </a:xfrm>
          <a:prstGeom prst="roundRect">
            <a:avLst>
              <a:gd name="adj" fmla="val 19354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Pill 1121"/>
          <p:cNvSpPr/>
          <p:nvPr/>
        </p:nvSpPr>
        <p:spPr>
          <a:xfrm>
            <a:off x="4777740" y="43159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B2B</a:t>
            </a:r>
          </a:p>
        </p:txBody>
      </p:sp>
      <p:sp>
        <p:nvSpPr>
          <p:cNvPr id="1122" name="Text 1122"/>
          <p:cNvSpPr txBox="1"/>
          <p:nvPr/>
        </p:nvSpPr>
        <p:spPr>
          <a:xfrm>
            <a:off x="5463540" y="4160520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Agencies re-shop held bookings to cut cost and raise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Feature tile 1102"/>
          <p:cNvSpPr/>
          <p:nvPr/>
        </p:nvSpPr>
        <p:spPr>
          <a:xfrm>
            <a:off x="45720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Icon badge 1103"/>
          <p:cNvSpPr/>
          <p:nvPr/>
        </p:nvSpPr>
        <p:spPr>
          <a:xfrm>
            <a:off x="60350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4" name="Icon docs 1104"/>
          <p:cNvSpPr/>
          <p:nvPr/>
        </p:nvSpPr>
        <p:spPr>
          <a:xfrm>
            <a:off x="708843" y="1486083"/>
            <a:ext cx="228234" cy="228234"/>
          </a:xfrm>
          <a:prstGeom prst="flowChartMultidocumen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Pill 1105"/>
          <p:cNvSpPr/>
          <p:nvPr/>
        </p:nvSpPr>
        <p:spPr>
          <a:xfrm>
            <a:off x="171907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0350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Booking + 3 drops</a:t>
            </a:r>
          </a:p>
        </p:txBody>
      </p:sp>
      <p:sp>
        <p:nvSpPr>
          <p:cNvPr id="1107" name="Text 1107"/>
          <p:cNvSpPr txBox="1"/>
          <p:nvPr/>
        </p:nvSpPr>
        <p:spPr>
          <a:xfrm>
            <a:off x="60350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Current booking ticket above three ranked drops</a:t>
            </a:r>
          </a:p>
        </p:txBody>
      </p:sp>
      <p:sp>
        <p:nvSpPr>
          <p:cNvPr id="1108" name="Feature tile 1108"/>
          <p:cNvSpPr/>
          <p:nvPr/>
        </p:nvSpPr>
        <p:spPr>
          <a:xfrm>
            <a:off x="256032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9" name="Icon badge 1109"/>
          <p:cNvSpPr/>
          <p:nvPr/>
        </p:nvSpPr>
        <p:spPr>
          <a:xfrm>
            <a:off x="270662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Icon down 1110"/>
          <p:cNvSpPr/>
          <p:nvPr/>
        </p:nvSpPr>
        <p:spPr>
          <a:xfrm>
            <a:off x="2811963" y="1486083"/>
            <a:ext cx="228234" cy="228234"/>
          </a:xfrm>
          <a:prstGeom prst="downArrow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1" name="Pill 1111"/>
          <p:cNvSpPr/>
          <p:nvPr/>
        </p:nvSpPr>
        <p:spPr>
          <a:xfrm>
            <a:off x="382219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12" name="Text 1112"/>
          <p:cNvSpPr txBox="1"/>
          <p:nvPr/>
        </p:nvSpPr>
        <p:spPr>
          <a:xfrm>
            <a:off x="270662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Saving stamps</a:t>
            </a:r>
          </a:p>
        </p:txBody>
      </p:sp>
      <p:sp>
        <p:nvSpPr>
          <p:cNvPr id="1113" name="Text 1113"/>
          <p:cNvSpPr txBox="1"/>
          <p:nvPr/>
        </p:nvSpPr>
        <p:spPr>
          <a:xfrm>
            <a:off x="270662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Estimated drop per stay, with cancellation and refund warnings</a:t>
            </a:r>
          </a:p>
        </p:txBody>
      </p:sp>
      <p:sp>
        <p:nvSpPr>
          <p:cNvPr id="1114" name="Feature tile 1114"/>
          <p:cNvSpPr/>
          <p:nvPr/>
        </p:nvSpPr>
        <p:spPr>
          <a:xfrm>
            <a:off x="466344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Icon badge 1115"/>
          <p:cNvSpPr/>
          <p:nvPr/>
        </p:nvSpPr>
        <p:spPr>
          <a:xfrm>
            <a:off x="480974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Icon doc 1116"/>
          <p:cNvSpPr/>
          <p:nvPr/>
        </p:nvSpPr>
        <p:spPr>
          <a:xfrm>
            <a:off x="4915083" y="1486083"/>
            <a:ext cx="228234" cy="228234"/>
          </a:xfrm>
          <a:prstGeom prst="flowChartDocumen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7" name="Pill 1117"/>
          <p:cNvSpPr/>
          <p:nvPr/>
        </p:nvSpPr>
        <p:spPr>
          <a:xfrm>
            <a:off x="592531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18" name="Text 1118"/>
          <p:cNvSpPr txBox="1"/>
          <p:nvPr/>
        </p:nvSpPr>
        <p:spPr>
          <a:xfrm>
            <a:off x="480974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Peek at a drop</a:t>
            </a:r>
          </a:p>
        </p:txBody>
      </p:sp>
      <p:sp>
        <p:nvSpPr>
          <p:cNvPr id="1119" name="Text 1119"/>
          <p:cNvSpPr txBox="1"/>
          <p:nvPr/>
        </p:nvSpPr>
        <p:spPr>
          <a:xfrm>
            <a:off x="480974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breakdown, room, board and cancellation flag</a:t>
            </a:r>
          </a:p>
        </p:txBody>
      </p:sp>
      <p:sp>
        <p:nvSpPr>
          <p:cNvPr id="1120" name="Feature tile 1120"/>
          <p:cNvSpPr/>
          <p:nvPr/>
        </p:nvSpPr>
        <p:spPr>
          <a:xfrm>
            <a:off x="676656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Icon badge 1121"/>
          <p:cNvSpPr/>
          <p:nvPr/>
        </p:nvSpPr>
        <p:spPr>
          <a:xfrm>
            <a:off x="691286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Icon star4 1122"/>
          <p:cNvSpPr/>
          <p:nvPr/>
        </p:nvSpPr>
        <p:spPr>
          <a:xfrm>
            <a:off x="7018203" y="1486083"/>
            <a:ext cx="228234" cy="228234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3" name="Pill 1123"/>
          <p:cNvSpPr/>
          <p:nvPr/>
        </p:nvSpPr>
        <p:spPr>
          <a:xfrm>
            <a:off x="802843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24" name="Text 1124"/>
          <p:cNvSpPr txBox="1"/>
          <p:nvPr/>
        </p:nvSpPr>
        <p:spPr>
          <a:xfrm>
            <a:off x="691286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Gemini</a:t>
            </a:r>
          </a:p>
        </p:txBody>
      </p:sp>
      <p:sp>
        <p:nvSpPr>
          <p:cNvPr id="1125" name="Text 1125"/>
          <p:cNvSpPr txBox="1"/>
          <p:nvPr/>
        </p:nvSpPr>
        <p:spPr>
          <a:xfrm>
            <a:off x="691286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all drops or ask about one, in plain language</a:t>
            </a:r>
          </a:p>
        </p:txBody>
      </p:sp>
      <p:sp>
        <p:nvSpPr>
          <p:cNvPr id="1126" name="Feature tile 1126"/>
          <p:cNvSpPr/>
          <p:nvPr/>
        </p:nvSpPr>
        <p:spPr>
          <a:xfrm>
            <a:off x="45720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7" name="Icon badge 1127"/>
          <p:cNvSpPr/>
          <p:nvPr/>
        </p:nvSpPr>
        <p:spPr>
          <a:xfrm>
            <a:off x="60350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8" name="Icon shield 1128"/>
          <p:cNvSpPr/>
          <p:nvPr/>
        </p:nvSpPr>
        <p:spPr>
          <a:xfrm>
            <a:off x="70884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94" y="16"/>
                </a:lnTo>
                <a:lnTo>
                  <a:pt x="94" y="48"/>
                </a:lnTo>
                <a:cubicBezTo>
                  <a:pt x="94" y="74"/>
                  <a:pt x="76" y="92"/>
                  <a:pt x="50" y="100"/>
                </a:cubicBezTo>
                <a:cubicBezTo>
                  <a:pt x="24" y="92"/>
                  <a:pt x="6" y="74"/>
                  <a:pt x="6" y="48"/>
                </a:cubicBezTo>
                <a:lnTo>
                  <a:pt x="6" y="16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9" name="Pill 1129"/>
          <p:cNvSpPr/>
          <p:nvPr/>
        </p:nvSpPr>
        <p:spPr>
          <a:xfrm>
            <a:off x="171907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30" name="Text 1130"/>
          <p:cNvSpPr txBox="1"/>
          <p:nvPr/>
        </p:nvSpPr>
        <p:spPr>
          <a:xfrm>
            <a:off x="60350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Grounded AI</a:t>
            </a:r>
          </a:p>
        </p:txBody>
      </p:sp>
      <p:sp>
        <p:nvSpPr>
          <p:cNvPr id="1131" name="Text 1131"/>
          <p:cNvSpPr txBox="1"/>
          <p:nvPr/>
        </p:nvSpPr>
        <p:spPr>
          <a:xfrm>
            <a:off x="60350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Replies validated against the booking and the suggested drops</a:t>
            </a:r>
          </a:p>
        </p:txBody>
      </p:sp>
      <p:sp>
        <p:nvSpPr>
          <p:cNvPr id="1132" name="Feature tile 1132"/>
          <p:cNvSpPr/>
          <p:nvPr/>
        </p:nvSpPr>
        <p:spPr>
          <a:xfrm>
            <a:off x="256032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3" name="Icon badge 1133"/>
          <p:cNvSpPr/>
          <p:nvPr/>
        </p:nvSpPr>
        <p:spPr>
          <a:xfrm>
            <a:off x="270662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4" name="Icon check 1134"/>
          <p:cNvSpPr/>
          <p:nvPr/>
        </p:nvSpPr>
        <p:spPr>
          <a:xfrm>
            <a:off x="281196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5" name="Pill 1135"/>
          <p:cNvSpPr/>
          <p:nvPr/>
        </p:nvSpPr>
        <p:spPr>
          <a:xfrm>
            <a:off x="382219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36" name="Text 1136"/>
          <p:cNvSpPr txBox="1"/>
          <p:nvPr/>
        </p:nvSpPr>
        <p:spPr>
          <a:xfrm>
            <a:off x="270662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Consent + receipt</a:t>
            </a:r>
          </a:p>
        </p:txBody>
      </p:sp>
      <p:sp>
        <p:nvSpPr>
          <p:cNvPr id="1137" name="Text 1137"/>
          <p:cNvSpPr txBox="1"/>
          <p:nvPr/>
        </p:nvSpPr>
        <p:spPr>
          <a:xfrm>
            <a:off x="270662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Explicit tick for lost flexibility, then a selection-only receipt</a:t>
            </a:r>
          </a:p>
        </p:txBody>
      </p:sp>
      <p:sp>
        <p:nvSpPr>
          <p:cNvPr id="1138" name="Feature tile 1138"/>
          <p:cNvSpPr/>
          <p:nvPr/>
        </p:nvSpPr>
        <p:spPr>
          <a:xfrm>
            <a:off x="466344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Icon badge 1139"/>
          <p:cNvSpPr/>
          <p:nvPr/>
        </p:nvSpPr>
        <p:spPr>
          <a:xfrm>
            <a:off x="480974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0" name="Icon case 1140"/>
          <p:cNvSpPr/>
          <p:nvPr/>
        </p:nvSpPr>
        <p:spPr>
          <a:xfrm>
            <a:off x="491508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4" y="30"/>
                </a:moveTo>
                <a:lnTo>
                  <a:pt x="96" y="30"/>
                </a:lnTo>
                <a:lnTo>
                  <a:pt x="96" y="92"/>
                </a:lnTo>
                <a:lnTo>
                  <a:pt x="4" y="92"/>
                </a:lnTo>
                <a:close/>
              </a:path>
              <a:path w="100" h="100">
                <a:moveTo>
                  <a:pt x="34" y="30"/>
                </a:moveTo>
                <a:lnTo>
                  <a:pt x="34" y="12"/>
                </a:lnTo>
                <a:lnTo>
                  <a:pt x="66" y="12"/>
                </a:lnTo>
                <a:lnTo>
                  <a:pt x="66" y="30"/>
                </a:lnTo>
                <a:lnTo>
                  <a:pt x="57" y="30"/>
                </a:lnTo>
                <a:lnTo>
                  <a:pt x="57" y="21"/>
                </a:lnTo>
                <a:lnTo>
                  <a:pt x="43" y="21"/>
                </a:lnTo>
                <a:lnTo>
                  <a:pt x="43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1" name="Pill 1141"/>
          <p:cNvSpPr/>
          <p:nvPr/>
        </p:nvSpPr>
        <p:spPr>
          <a:xfrm>
            <a:off x="5819973" y="3328416"/>
            <a:ext cx="617403" cy="22250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SOON</a:t>
            </a:r>
          </a:p>
        </p:txBody>
      </p:sp>
      <p:sp>
        <p:nvSpPr>
          <p:cNvPr id="1142" name="Text 1142"/>
          <p:cNvSpPr txBox="1"/>
          <p:nvPr/>
        </p:nvSpPr>
        <p:spPr>
          <a:xfrm>
            <a:off x="480974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console</a:t>
            </a:r>
          </a:p>
        </p:txBody>
      </p:sp>
      <p:sp>
        <p:nvSpPr>
          <p:cNvPr id="1143" name="Text 1143"/>
          <p:cNvSpPr txBox="1"/>
          <p:nvPr/>
        </p:nvSpPr>
        <p:spPr>
          <a:xfrm>
            <a:off x="480974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Private, read-only cases behind Google IAP</a:t>
            </a:r>
          </a:p>
        </p:txBody>
      </p:sp>
      <p:sp>
        <p:nvSpPr>
          <p:cNvPr id="1144" name="Feature tile 1144"/>
          <p:cNvSpPr/>
          <p:nvPr/>
        </p:nvSpPr>
        <p:spPr>
          <a:xfrm>
            <a:off x="676656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EFBF5"/>
          </a:solidFill>
          <a:ln w="9525">
            <a:solidFill>
              <a:srgbClr val="D95241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5" name="Icon badge 1145"/>
          <p:cNvSpPr/>
          <p:nvPr/>
        </p:nvSpPr>
        <p:spPr>
          <a:xfrm>
            <a:off x="6912864" y="325526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Icon cycle 1146"/>
          <p:cNvSpPr/>
          <p:nvPr/>
        </p:nvSpPr>
        <p:spPr>
          <a:xfrm>
            <a:off x="7018203" y="3360603"/>
            <a:ext cx="228234" cy="228234"/>
          </a:xfrm>
          <a:prstGeom prst="circularArrow">
            <a:avLst>
              <a:gd name="adj1" fmla="val 16000"/>
              <a:gd name="adj2" fmla="val 1800000"/>
              <a:gd name="adj3" fmla="val 20000000"/>
              <a:gd name="adj4" fmla="val 5400000"/>
              <a:gd name="adj5" fmla="val 22000"/>
            </a:avLst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7" name="Pill 1147"/>
          <p:cNvSpPr/>
          <p:nvPr/>
        </p:nvSpPr>
        <p:spPr>
          <a:xfrm>
            <a:off x="802843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5241"/>
            </a:solidFill>
            <a:round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NEXT</a:t>
            </a:r>
          </a:p>
        </p:txBody>
      </p:sp>
      <p:sp>
        <p:nvSpPr>
          <p:cNvPr id="1148" name="Text 1148"/>
          <p:cNvSpPr txBox="1"/>
          <p:nvPr/>
        </p:nvSpPr>
        <p:spPr>
          <a:xfrm>
            <a:off x="691286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Drop Watch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691286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Consent, minimum saving and scheduled re-checks with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raveller lane 1102"/>
          <p:cNvSpPr/>
          <p:nvPr/>
        </p:nvSpPr>
        <p:spPr>
          <a:xfrm>
            <a:off x="457200" y="1188720"/>
            <a:ext cx="8229600" cy="1828800"/>
          </a:xfrm>
          <a:prstGeom prst="roundRect">
            <a:avLst>
              <a:gd name="adj" fmla="val 7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Text 1103"/>
          <p:cNvSpPr txBox="1"/>
          <p:nvPr/>
        </p:nvSpPr>
        <p:spPr>
          <a:xfrm>
            <a:off x="621792" y="1261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 journey</a:t>
            </a: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B2C, live today</a:t>
            </a:r>
          </a:p>
        </p:txBody>
      </p:sp>
      <p:sp>
        <p:nvSpPr>
          <p:cNvPr id="1104" name="Step 1104"/>
          <p:cNvSpPr/>
          <p:nvPr/>
        </p:nvSpPr>
        <p:spPr>
          <a:xfrm>
            <a:off x="594360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Step number 1105"/>
          <p:cNvSpPr/>
          <p:nvPr/>
        </p:nvSpPr>
        <p:spPr>
          <a:xfrm>
            <a:off x="685800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85800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Your booking</a:t>
            </a:r>
          </a:p>
        </p:txBody>
      </p:sp>
      <p:sp>
        <p:nvSpPr>
          <p:cNvPr id="1107" name="Text 1107"/>
          <p:cNvSpPr txBox="1"/>
          <p:nvPr/>
        </p:nvSpPr>
        <p:spPr>
          <a:xfrm>
            <a:off x="685800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Hotel, dates, guests and price</a:t>
            </a:r>
          </a:p>
        </p:txBody>
      </p:sp>
      <p:cxnSp>
        <p:nvCxnSpPr>
          <p:cNvPr id="1108" name="Arrow 1108"/>
          <p:cNvCxnSpPr/>
          <p:nvPr/>
        </p:nvCxnSpPr>
        <p:spPr>
          <a:xfrm>
            <a:off x="1764792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09" name="Step 1109"/>
          <p:cNvSpPr/>
          <p:nvPr/>
        </p:nvSpPr>
        <p:spPr>
          <a:xfrm>
            <a:off x="1956816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Step number 1110"/>
          <p:cNvSpPr/>
          <p:nvPr/>
        </p:nvSpPr>
        <p:spPr>
          <a:xfrm>
            <a:off x="2048256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2048256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Find drops</a:t>
            </a:r>
          </a:p>
        </p:txBody>
      </p:sp>
      <p:sp>
        <p:nvSpPr>
          <p:cNvPr id="1112" name="Text 1112"/>
          <p:cNvSpPr txBox="1"/>
          <p:nvPr/>
        </p:nvSpPr>
        <p:spPr>
          <a:xfrm>
            <a:off x="2048256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ranked drops with saving stamps</a:t>
            </a:r>
          </a:p>
        </p:txBody>
      </p:sp>
      <p:cxnSp>
        <p:nvCxnSpPr>
          <p:cNvPr id="1113" name="Arrow 1113"/>
          <p:cNvCxnSpPr/>
          <p:nvPr/>
        </p:nvCxnSpPr>
        <p:spPr>
          <a:xfrm>
            <a:off x="3127248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14" name="Step 1114"/>
          <p:cNvSpPr/>
          <p:nvPr/>
        </p:nvSpPr>
        <p:spPr>
          <a:xfrm>
            <a:off x="3319272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Step number 1115"/>
          <p:cNvSpPr/>
          <p:nvPr/>
        </p:nvSpPr>
        <p:spPr>
          <a:xfrm>
            <a:off x="3410712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116" name="Text 1116"/>
          <p:cNvSpPr txBox="1"/>
          <p:nvPr/>
        </p:nvSpPr>
        <p:spPr>
          <a:xfrm>
            <a:off x="3410712" y="2020824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Peek at a drop</a:t>
            </a:r>
          </a:p>
        </p:txBody>
      </p:sp>
      <p:sp>
        <p:nvSpPr>
          <p:cNvPr id="1117" name="Text 1117"/>
          <p:cNvSpPr txBox="1"/>
          <p:nvPr/>
        </p:nvSpPr>
        <p:spPr>
          <a:xfrm>
            <a:off x="3410712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breakdown and room facts</a:t>
            </a:r>
          </a:p>
        </p:txBody>
      </p:sp>
      <p:cxnSp>
        <p:nvCxnSpPr>
          <p:cNvPr id="1118" name="Arrow 1118"/>
          <p:cNvCxnSpPr/>
          <p:nvPr/>
        </p:nvCxnSpPr>
        <p:spPr>
          <a:xfrm>
            <a:off x="4489704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19" name="Step 1119"/>
          <p:cNvSpPr/>
          <p:nvPr/>
        </p:nvSpPr>
        <p:spPr>
          <a:xfrm>
            <a:off x="4681728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0" name="Gemini sparkle 1120"/>
          <p:cNvSpPr/>
          <p:nvPr/>
        </p:nvSpPr>
        <p:spPr>
          <a:xfrm>
            <a:off x="4773168" y="1691640"/>
            <a:ext cx="274320" cy="274320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Text 1121"/>
          <p:cNvSpPr txBox="1"/>
          <p:nvPr/>
        </p:nvSpPr>
        <p:spPr>
          <a:xfrm>
            <a:off x="4773168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Gemini</a:t>
            </a:r>
          </a:p>
        </p:txBody>
      </p:sp>
      <p:sp>
        <p:nvSpPr>
          <p:cNvPr id="1122" name="Text 1122"/>
          <p:cNvSpPr txBox="1"/>
          <p:nvPr/>
        </p:nvSpPr>
        <p:spPr>
          <a:xfrm>
            <a:off x="4773168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advice: price vs flexibility</a:t>
            </a:r>
          </a:p>
        </p:txBody>
      </p:sp>
      <p:cxnSp>
        <p:nvCxnSpPr>
          <p:cNvPr id="1123" name="Arrow 1123"/>
          <p:cNvCxnSpPr/>
          <p:nvPr/>
        </p:nvCxnSpPr>
        <p:spPr>
          <a:xfrm>
            <a:off x="5852160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4" name="Step 1124"/>
          <p:cNvSpPr/>
          <p:nvPr/>
        </p:nvSpPr>
        <p:spPr>
          <a:xfrm>
            <a:off x="6044184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5" name="Step number 1125"/>
          <p:cNvSpPr/>
          <p:nvPr/>
        </p:nvSpPr>
        <p:spPr>
          <a:xfrm>
            <a:off x="6135624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126" name="Text 1126"/>
          <p:cNvSpPr txBox="1"/>
          <p:nvPr/>
        </p:nvSpPr>
        <p:spPr>
          <a:xfrm>
            <a:off x="6135624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Review</a:t>
            </a:r>
          </a:p>
        </p:txBody>
      </p:sp>
      <p:sp>
        <p:nvSpPr>
          <p:cNvPr id="1127" name="Text 1127"/>
          <p:cNvSpPr txBox="1"/>
          <p:nvPr/>
        </p:nvSpPr>
        <p:spPr>
          <a:xfrm>
            <a:off x="6135624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Tick any lost flexibility</a:t>
            </a:r>
          </a:p>
        </p:txBody>
      </p:sp>
      <p:cxnSp>
        <p:nvCxnSpPr>
          <p:cNvPr id="1128" name="Arrow 1128"/>
          <p:cNvCxnSpPr/>
          <p:nvPr/>
        </p:nvCxnSpPr>
        <p:spPr>
          <a:xfrm>
            <a:off x="7214616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9" name="Step 1129"/>
          <p:cNvSpPr/>
          <p:nvPr/>
        </p:nvSpPr>
        <p:spPr>
          <a:xfrm>
            <a:off x="7406640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Step number 1130"/>
          <p:cNvSpPr/>
          <p:nvPr/>
        </p:nvSpPr>
        <p:spPr>
          <a:xfrm>
            <a:off x="7498080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131" name="Text 1131"/>
          <p:cNvSpPr txBox="1"/>
          <p:nvPr/>
        </p:nvSpPr>
        <p:spPr>
          <a:xfrm>
            <a:off x="7498080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Confirm</a:t>
            </a:r>
          </a:p>
        </p:txBody>
      </p:sp>
      <p:sp>
        <p:nvSpPr>
          <p:cNvPr id="1132" name="Text 1132"/>
          <p:cNvSpPr txBox="1"/>
          <p:nvPr/>
        </p:nvSpPr>
        <p:spPr>
          <a:xfrm>
            <a:off x="7498080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Receipt with the estimated drop</a:t>
            </a:r>
          </a:p>
        </p:txBody>
      </p:sp>
      <p:sp>
        <p:nvSpPr>
          <p:cNvPr id="1133" name="Agency lane 1133"/>
          <p:cNvSpPr/>
          <p:nvPr/>
        </p:nvSpPr>
        <p:spPr>
          <a:xfrm>
            <a:off x="457200" y="3154680"/>
            <a:ext cx="8229600" cy="1691640"/>
          </a:xfrm>
          <a:prstGeom prst="roundRect">
            <a:avLst>
              <a:gd name="adj" fmla="val 7567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4" name="Text 1134"/>
          <p:cNvSpPr txBox="1"/>
          <p:nvPr/>
        </p:nvSpPr>
        <p:spPr>
          <a:xfrm>
            <a:off x="621792" y="322783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use</a:t>
            </a:r>
            <a:r>
              <a:rPr lang="en-GB" sz="11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FUTURE  B2B, same engine</a:t>
            </a:r>
          </a:p>
        </p:txBody>
      </p:sp>
      <p:sp>
        <p:nvSpPr>
          <p:cNvPr id="1135" name="Agency step 1135"/>
          <p:cNvSpPr/>
          <p:nvPr/>
        </p:nvSpPr>
        <p:spPr>
          <a:xfrm>
            <a:off x="59436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6" name="Text 1136"/>
          <p:cNvSpPr txBox="1"/>
          <p:nvPr/>
        </p:nvSpPr>
        <p:spPr>
          <a:xfrm>
            <a:off x="70408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Share booking</a:t>
            </a:r>
          </a:p>
        </p:txBody>
      </p:sp>
      <p:sp>
        <p:nvSpPr>
          <p:cNvPr id="1137" name="Text 1137"/>
          <p:cNvSpPr txBox="1"/>
          <p:nvPr/>
        </p:nvSpPr>
        <p:spPr>
          <a:xfrm>
            <a:off x="70408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sends an Altovo booking link</a:t>
            </a:r>
          </a:p>
        </p:txBody>
      </p:sp>
      <p:cxnSp>
        <p:nvCxnSpPr>
          <p:cNvPr id="1138" name="Arrow 1138"/>
          <p:cNvCxnSpPr/>
          <p:nvPr/>
        </p:nvCxnSpPr>
        <p:spPr>
          <a:xfrm>
            <a:off x="199339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39" name="Agency step 1139"/>
          <p:cNvSpPr/>
          <p:nvPr/>
        </p:nvSpPr>
        <p:spPr>
          <a:xfrm>
            <a:off x="224028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0" name="Text 1140"/>
          <p:cNvSpPr txBox="1"/>
          <p:nvPr/>
        </p:nvSpPr>
        <p:spPr>
          <a:xfrm>
            <a:off x="235000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Re-shop the stay</a:t>
            </a:r>
          </a:p>
        </p:txBody>
      </p:sp>
      <p:sp>
        <p:nvSpPr>
          <p:cNvPr id="1141" name="Text 1141"/>
          <p:cNvSpPr txBox="1"/>
          <p:nvPr/>
        </p:nvSpPr>
        <p:spPr>
          <a:xfrm>
            <a:off x="235000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gateway, same hotel and dates</a:t>
            </a:r>
          </a:p>
        </p:txBody>
      </p:sp>
      <p:cxnSp>
        <p:nvCxnSpPr>
          <p:cNvPr id="1142" name="Arrow 1142"/>
          <p:cNvCxnSpPr/>
          <p:nvPr/>
        </p:nvCxnSpPr>
        <p:spPr>
          <a:xfrm>
            <a:off x="363931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43" name="Agency step 1143"/>
          <p:cNvSpPr/>
          <p:nvPr/>
        </p:nvSpPr>
        <p:spPr>
          <a:xfrm>
            <a:off x="388620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4" name="Text 1144"/>
          <p:cNvSpPr txBox="1"/>
          <p:nvPr/>
        </p:nvSpPr>
        <p:spPr>
          <a:xfrm>
            <a:off x="399592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Record drops</a:t>
            </a:r>
          </a:p>
        </p:txBody>
      </p:sp>
      <p:sp>
        <p:nvSpPr>
          <p:cNvPr id="1145" name="Text 1145"/>
          <p:cNvSpPr txBox="1"/>
          <p:nvPr/>
        </p:nvSpPr>
        <p:spPr>
          <a:xfrm>
            <a:off x="399592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Booking and drops kept in Firestore</a:t>
            </a:r>
          </a:p>
        </p:txBody>
      </p:sp>
      <p:cxnSp>
        <p:nvCxnSpPr>
          <p:cNvPr id="1146" name="Arrow 1146"/>
          <p:cNvCxnSpPr/>
          <p:nvPr/>
        </p:nvCxnSpPr>
        <p:spPr>
          <a:xfrm>
            <a:off x="528523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47" name="Agency step 1147"/>
          <p:cNvSpPr/>
          <p:nvPr/>
        </p:nvSpPr>
        <p:spPr>
          <a:xfrm>
            <a:off x="553212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8" name="Text 1148"/>
          <p:cNvSpPr txBox="1"/>
          <p:nvPr/>
        </p:nvSpPr>
        <p:spPr>
          <a:xfrm>
            <a:off x="564184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Review cases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564184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 console behind Google IAP</a:t>
            </a:r>
          </a:p>
        </p:txBody>
      </p:sp>
      <p:cxnSp>
        <p:nvCxnSpPr>
          <p:cNvPr id="1150" name="Arrow 1150"/>
          <p:cNvCxnSpPr/>
          <p:nvPr/>
        </p:nvCxnSpPr>
        <p:spPr>
          <a:xfrm>
            <a:off x="693115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51" name="Agency step 1151"/>
          <p:cNvSpPr/>
          <p:nvPr/>
        </p:nvSpPr>
        <p:spPr>
          <a:xfrm>
            <a:off x="717804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5241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Text 1152"/>
          <p:cNvSpPr txBox="1"/>
          <p:nvPr/>
        </p:nvSpPr>
        <p:spPr>
          <a:xfrm>
            <a:off x="728776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Rebook cheaper</a:t>
            </a:r>
          </a:p>
        </p:txBody>
      </p:sp>
      <p:sp>
        <p:nvSpPr>
          <p:cNvPr id="1153" name="Text 1153"/>
          <p:cNvSpPr txBox="1"/>
          <p:nvPr/>
        </p:nvSpPr>
        <p:spPr>
          <a:xfrm>
            <a:off x="728776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Cut supplier cost, keep margin (next)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12" name="RoomDrop logo 1112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Card 1113"/>
          <p:cNvSpPr/>
          <p:nvPr/>
        </p:nvSpPr>
        <p:spPr>
          <a:xfrm>
            <a:off x="320040" y="1463040"/>
            <a:ext cx="118872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4" name="Text 1114"/>
          <p:cNvSpPr txBox="1"/>
          <p:nvPr/>
        </p:nvSpPr>
        <p:spPr>
          <a:xfrm>
            <a:off x="411480" y="150876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HTML, CSS, JS</a:t>
            </a:r>
          </a:p>
        </p:txBody>
      </p:sp>
      <p:sp>
        <p:nvSpPr>
          <p:cNvPr id="1115" name="Card 1115"/>
          <p:cNvSpPr/>
          <p:nvPr/>
        </p:nvSpPr>
        <p:spPr>
          <a:xfrm>
            <a:off x="320040" y="27432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Text 1116"/>
          <p:cNvSpPr txBox="1"/>
          <p:nvPr/>
        </p:nvSpPr>
        <p:spPr>
          <a:xfrm>
            <a:off x="4114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operator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sign-in</a:t>
            </a:r>
          </a:p>
        </p:txBody>
      </p:sp>
      <p:sp>
        <p:nvSpPr>
          <p:cNvPr id="1117" name="Card 1117"/>
          <p:cNvSpPr/>
          <p:nvPr/>
        </p:nvSpPr>
        <p:spPr>
          <a:xfrm>
            <a:off x="320040" y="37947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Text 1118"/>
          <p:cNvSpPr txBox="1"/>
          <p:nvPr/>
        </p:nvSpPr>
        <p:spPr>
          <a:xfrm>
            <a:off x="411480" y="384048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External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Altovo share link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rates</a:t>
            </a:r>
          </a:p>
        </p:txBody>
      </p:sp>
      <p:sp>
        <p:nvSpPr>
          <p:cNvPr id="1119" name="Google Cloud boundary 1119"/>
          <p:cNvSpPr/>
          <p:nvPr/>
        </p:nvSpPr>
        <p:spPr>
          <a:xfrm>
            <a:off x="1691640" y="1170432"/>
            <a:ext cx="7086600" cy="3675888"/>
          </a:xfrm>
          <a:prstGeom prst="roundRect">
            <a:avLst>
              <a:gd name="adj" fmla="val 2985"/>
            </a:avLst>
          </a:prstGeom>
          <a:solidFill>
            <a:srgbClr val="F6F8FA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0" name="Text 1120"/>
          <p:cNvSpPr txBox="1"/>
          <p:nvPr/>
        </p:nvSpPr>
        <p:spPr>
          <a:xfrm>
            <a:off x="1828800" y="1197864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asia-southeast1 unless noted</a:t>
            </a:r>
          </a:p>
        </p:txBody>
      </p:sp>
      <p:sp>
        <p:nvSpPr>
          <p:cNvPr id="1121" name="Card 1121"/>
          <p:cNvSpPr/>
          <p:nvPr/>
        </p:nvSpPr>
        <p:spPr>
          <a:xfrm>
            <a:off x="1874520" y="1463040"/>
            <a:ext cx="2377440" cy="1005840"/>
          </a:xfrm>
          <a:prstGeom prst="roundRect">
            <a:avLst>
              <a:gd name="adj" fmla="val 7272"/>
            </a:avLst>
          </a:prstGeom>
          <a:solidFill>
            <a:srgbClr val="1B2A3A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Text 1122"/>
          <p:cNvSpPr txBox="1"/>
          <p:nvPr/>
        </p:nvSpPr>
        <p:spPr>
          <a:xfrm>
            <a:off x="1965960" y="150876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 service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5DC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hotel-price-hunter, Node 24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5DC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public, CSRF + strict CSP</a:t>
            </a:r>
          </a:p>
        </p:txBody>
      </p:sp>
      <p:sp>
        <p:nvSpPr>
          <p:cNvPr id="1123" name="Card 1123"/>
          <p:cNvSpPr/>
          <p:nvPr/>
        </p:nvSpPr>
        <p:spPr>
          <a:xfrm>
            <a:off x="6766560" y="1463040"/>
            <a:ext cx="1874520" cy="1005840"/>
          </a:xfrm>
          <a:prstGeom prst="roundRect">
            <a:avLst>
              <a:gd name="adj" fmla="val 7272"/>
            </a:avLst>
          </a:prstGeom>
          <a:solidFill>
            <a:srgbClr val="FBEAE6"/>
          </a:solidFill>
          <a:ln w="9525">
            <a:solidFill>
              <a:srgbClr val="D95241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4" name="Text 1124"/>
          <p:cNvSpPr txBox="1"/>
          <p:nvPr/>
        </p:nvSpPr>
        <p:spPr>
          <a:xfrm>
            <a:off x="6858000" y="150876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3.8 Flash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AI, location global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schema + grounding check</a:t>
            </a:r>
          </a:p>
        </p:txBody>
      </p:sp>
      <p:cxnSp>
        <p:nvCxnSpPr>
          <p:cNvPr id="1125" name="Arrow 1125"/>
          <p:cNvCxnSpPr/>
          <p:nvPr/>
        </p:nvCxnSpPr>
        <p:spPr>
          <a:xfrm>
            <a:off x="4251960" y="1810512"/>
            <a:ext cx="2514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26" name="Arrow 1126"/>
          <p:cNvCxnSpPr/>
          <p:nvPr/>
        </p:nvCxnSpPr>
        <p:spPr>
          <a:xfrm flipH="1">
            <a:off x="4251960" y="2121408"/>
            <a:ext cx="2514600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7" name="Text 1127"/>
          <p:cNvSpPr txBox="1"/>
          <p:nvPr/>
        </p:nvSpPr>
        <p:spPr>
          <a:xfrm>
            <a:off x="4343400" y="151790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allowlisted facts + response schema</a:t>
            </a:r>
          </a:p>
        </p:txBody>
      </p:sp>
      <p:sp>
        <p:nvSpPr>
          <p:cNvPr id="1128" name="Text 1128"/>
          <p:cNvSpPr txBox="1"/>
          <p:nvPr/>
        </p:nvSpPr>
        <p:spPr>
          <a:xfrm>
            <a:off x="4343400" y="215798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9524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IDs, validated by server</a:t>
            </a:r>
          </a:p>
        </p:txBody>
      </p:sp>
      <p:sp>
        <p:nvSpPr>
          <p:cNvPr id="1129" name="Card 1129"/>
          <p:cNvSpPr/>
          <p:nvPr/>
        </p:nvSpPr>
        <p:spPr>
          <a:xfrm>
            <a:off x="4069080" y="26974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Icon badge 1130"/>
          <p:cNvSpPr/>
          <p:nvPr/>
        </p:nvSpPr>
        <p:spPr>
          <a:xfrm>
            <a:off x="4178808" y="2807208"/>
            <a:ext cx="329184" cy="32918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1" name="Icon can 1131"/>
          <p:cNvSpPr/>
          <p:nvPr/>
        </p:nvSpPr>
        <p:spPr>
          <a:xfrm>
            <a:off x="4257812" y="2886212"/>
            <a:ext cx="171176" cy="171176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2" name="Text 1132"/>
          <p:cNvSpPr txBox="1"/>
          <p:nvPr/>
        </p:nvSpPr>
        <p:spPr>
          <a:xfrm>
            <a:off x="4581144" y="277063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Firestore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Native mode, transactions</a:t>
            </a:r>
          </a:p>
        </p:txBody>
      </p:sp>
      <p:sp>
        <p:nvSpPr>
          <p:cNvPr id="1133" name="Text 1133"/>
          <p:cNvSpPr txBox="1"/>
          <p:nvPr/>
        </p:nvSpPr>
        <p:spPr>
          <a:xfrm>
            <a:off x="4197096" y="3300984"/>
            <a:ext cx="224942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roomdropBookingsV1/{code}</a:t>
            </a:r>
          </a:p>
          <a:p>
            <a:pPr marL="164592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drops/{dropId}  append-only</a:t>
            </a:r>
          </a:p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roomdropPublicSessionsV1  TTL</a:t>
            </a:r>
          </a:p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cases, watch state</a:t>
            </a:r>
          </a:p>
        </p:txBody>
      </p:sp>
      <p:sp>
        <p:nvSpPr>
          <p:cNvPr id="1134" name="Text 1134"/>
          <p:cNvSpPr txBox="1"/>
          <p:nvPr/>
        </p:nvSpPr>
        <p:spPr>
          <a:xfrm>
            <a:off x="4197096" y="427024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share-link tokens, contacts or guest names stored</a:t>
            </a:r>
          </a:p>
        </p:txBody>
      </p:sp>
      <p:cxnSp>
        <p:nvCxnSpPr>
          <p:cNvPr id="1135" name="Arrow 1135"/>
          <p:cNvCxnSpPr/>
          <p:nvPr/>
        </p:nvCxnSpPr>
        <p:spPr>
          <a:xfrm>
            <a:off x="4160520" y="2468880"/>
            <a:ext cx="0" cy="22860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36" name="Card 1136"/>
          <p:cNvSpPr/>
          <p:nvPr/>
        </p:nvSpPr>
        <p:spPr>
          <a:xfrm>
            <a:off x="1874520" y="2743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7" name="Text 1137"/>
          <p:cNvSpPr txBox="1"/>
          <p:nvPr/>
        </p:nvSpPr>
        <p:spPr>
          <a:xfrm>
            <a:off x="1965960" y="278892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console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behind IAP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read-only cases</a:t>
            </a:r>
          </a:p>
        </p:txBody>
      </p:sp>
      <p:sp>
        <p:nvSpPr>
          <p:cNvPr id="1138" name="Card 1138"/>
          <p:cNvSpPr/>
          <p:nvPr/>
        </p:nvSpPr>
        <p:spPr>
          <a:xfrm>
            <a:off x="187452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Text 1139"/>
          <p:cNvSpPr txBox="1"/>
          <p:nvPr/>
        </p:nvSpPr>
        <p:spPr>
          <a:xfrm>
            <a:off x="1965960" y="384048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 Job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roomdrop-price-watch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re-shops held stays</a:t>
            </a:r>
          </a:p>
        </p:txBody>
      </p:sp>
      <p:cxnSp>
        <p:nvCxnSpPr>
          <p:cNvPr id="1140" name="Arrow 1140"/>
          <p:cNvCxnSpPr/>
          <p:nvPr/>
        </p:nvCxnSpPr>
        <p:spPr>
          <a:xfrm>
            <a:off x="1508760" y="196596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1" name="Arrow 1141"/>
          <p:cNvCxnSpPr/>
          <p:nvPr/>
        </p:nvCxnSpPr>
        <p:spPr>
          <a:xfrm>
            <a:off x="1508760" y="310896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2" name="Arrow 1142"/>
          <p:cNvCxnSpPr/>
          <p:nvPr/>
        </p:nvCxnSpPr>
        <p:spPr>
          <a:xfrm>
            <a:off x="1508760" y="422910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prstDash val="dash"/>
            <a:round/>
            <a:headEnd type="triangle" w="med" len="med"/>
          </a:ln>
        </p:spPr>
      </p:cxnSp>
      <p:cxnSp>
        <p:nvCxnSpPr>
          <p:cNvPr id="1143" name="Arrow 1143"/>
          <p:cNvCxnSpPr/>
          <p:nvPr/>
        </p:nvCxnSpPr>
        <p:spPr>
          <a:xfrm>
            <a:off x="3840480" y="3108960"/>
            <a:ext cx="228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4" name="Arrow 1144"/>
          <p:cNvCxnSpPr/>
          <p:nvPr/>
        </p:nvCxnSpPr>
        <p:spPr>
          <a:xfrm>
            <a:off x="3840480" y="4229100"/>
            <a:ext cx="228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145" name="Card 1145"/>
          <p:cNvSpPr/>
          <p:nvPr/>
        </p:nvSpPr>
        <p:spPr>
          <a:xfrm>
            <a:off x="6766560" y="274320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Text 1146"/>
          <p:cNvSpPr txBox="1"/>
          <p:nvPr/>
        </p:nvSpPr>
        <p:spPr>
          <a:xfrm>
            <a:off x="6858000" y="27889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IAM identities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least privilege, no keys</a:t>
            </a:r>
          </a:p>
        </p:txBody>
      </p:sp>
      <p:sp>
        <p:nvSpPr>
          <p:cNvPr id="1147" name="Card 1147"/>
          <p:cNvSpPr/>
          <p:nvPr/>
        </p:nvSpPr>
        <p:spPr>
          <a:xfrm>
            <a:off x="6766560" y="37947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8" name="Text 1148"/>
          <p:cNvSpPr txBox="1"/>
          <p:nvPr/>
        </p:nvSpPr>
        <p:spPr>
          <a:xfrm>
            <a:off x="6858000" y="384048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Artifact Registry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immutable images for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Cloud Run workloads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0" name="RoomDrop logo 1120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Tech group 1121"/>
          <p:cNvSpPr/>
          <p:nvPr/>
        </p:nvSpPr>
        <p:spPr>
          <a:xfrm>
            <a:off x="457200" y="1234440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Icon badge 1122"/>
          <p:cNvSpPr/>
          <p:nvPr/>
        </p:nvSpPr>
        <p:spPr>
          <a:xfrm>
            <a:off x="594360" y="1325880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3" name="Icon frame 1123"/>
          <p:cNvSpPr/>
          <p:nvPr/>
        </p:nvSpPr>
        <p:spPr>
          <a:xfrm>
            <a:off x="660197" y="1391717"/>
            <a:ext cx="142646" cy="142646"/>
          </a:xfrm>
          <a:prstGeom prst="frame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4" name="Text 1124"/>
          <p:cNvSpPr txBox="1"/>
          <p:nvPr/>
        </p:nvSpPr>
        <p:spPr>
          <a:xfrm>
            <a:off x="9601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Frontend</a:t>
            </a:r>
          </a:p>
        </p:txBody>
      </p:sp>
      <p:sp>
        <p:nvSpPr>
          <p:cNvPr id="1125" name="Chip 1125"/>
          <p:cNvSpPr/>
          <p:nvPr/>
        </p:nvSpPr>
        <p:spPr>
          <a:xfrm>
            <a:off x="594360" y="1691640"/>
            <a:ext cx="19202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Vanilla HTML / CSS / JS</a:t>
            </a:r>
          </a:p>
        </p:txBody>
      </p:sp>
      <p:sp>
        <p:nvSpPr>
          <p:cNvPr id="1126" name="Chip 1126"/>
          <p:cNvSpPr/>
          <p:nvPr/>
        </p:nvSpPr>
        <p:spPr>
          <a:xfrm>
            <a:off x="594360" y="2002536"/>
            <a:ext cx="2066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 modules, no build step</a:t>
            </a:r>
          </a:p>
        </p:txBody>
      </p:sp>
      <p:sp>
        <p:nvSpPr>
          <p:cNvPr id="1127" name="Chip 1127"/>
          <p:cNvSpPr/>
          <p:nvPr/>
        </p:nvSpPr>
        <p:spPr>
          <a:xfrm>
            <a:off x="2752344" y="2002536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Strict CSP</a:t>
            </a:r>
          </a:p>
        </p:txBody>
      </p:sp>
      <p:sp>
        <p:nvSpPr>
          <p:cNvPr id="1128" name="Tech group 1128"/>
          <p:cNvSpPr/>
          <p:nvPr/>
        </p:nvSpPr>
        <p:spPr>
          <a:xfrm>
            <a:off x="4663440" y="1234440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9" name="Icon badge 1129"/>
          <p:cNvSpPr/>
          <p:nvPr/>
        </p:nvSpPr>
        <p:spPr>
          <a:xfrm>
            <a:off x="4800600" y="1325880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Icon code 1130"/>
          <p:cNvSpPr/>
          <p:nvPr/>
        </p:nvSpPr>
        <p:spPr>
          <a:xfrm>
            <a:off x="4866437" y="1391717"/>
            <a:ext cx="142646" cy="142646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30" y="20"/>
                </a:moveTo>
                <a:lnTo>
                  <a:pt x="40" y="30"/>
                </a:lnTo>
                <a:lnTo>
                  <a:pt x="20" y="50"/>
                </a:lnTo>
                <a:lnTo>
                  <a:pt x="40" y="70"/>
                </a:lnTo>
                <a:lnTo>
                  <a:pt x="30" y="80"/>
                </a:lnTo>
                <a:lnTo>
                  <a:pt x="0" y="50"/>
                </a:lnTo>
                <a:close/>
              </a:path>
              <a:path w="100" h="100">
                <a:moveTo>
                  <a:pt x="70" y="20"/>
                </a:moveTo>
                <a:lnTo>
                  <a:pt x="100" y="50"/>
                </a:lnTo>
                <a:lnTo>
                  <a:pt x="70" y="80"/>
                </a:lnTo>
                <a:lnTo>
                  <a:pt x="60" y="70"/>
                </a:lnTo>
                <a:lnTo>
                  <a:pt x="80" y="50"/>
                </a:lnTo>
                <a:lnTo>
                  <a:pt x="60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1" name="Text 1131"/>
          <p:cNvSpPr txBox="1"/>
          <p:nvPr/>
        </p:nvSpPr>
        <p:spPr>
          <a:xfrm>
            <a:off x="516636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Backend</a:t>
            </a:r>
          </a:p>
        </p:txBody>
      </p:sp>
      <p:sp>
        <p:nvSpPr>
          <p:cNvPr id="1132" name="Chip 1132"/>
          <p:cNvSpPr/>
          <p:nvPr/>
        </p:nvSpPr>
        <p:spPr>
          <a:xfrm>
            <a:off x="4800600" y="1691640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Node.js 24</a:t>
            </a:r>
          </a:p>
        </p:txBody>
      </p:sp>
      <p:sp>
        <p:nvSpPr>
          <p:cNvPr id="1133" name="Chip 1133"/>
          <p:cNvSpPr/>
          <p:nvPr/>
        </p:nvSpPr>
        <p:spPr>
          <a:xfrm>
            <a:off x="5861304" y="1691640"/>
            <a:ext cx="177393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node:24-bookworm-slim</a:t>
            </a:r>
          </a:p>
        </p:txBody>
      </p:sp>
      <p:sp>
        <p:nvSpPr>
          <p:cNvPr id="1134" name="Chip 1134"/>
          <p:cNvSpPr/>
          <p:nvPr/>
        </p:nvSpPr>
        <p:spPr>
          <a:xfrm>
            <a:off x="4800600" y="2002536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built-in node:http</a:t>
            </a:r>
          </a:p>
        </p:txBody>
      </p:sp>
      <p:sp>
        <p:nvSpPr>
          <p:cNvPr id="1135" name="Chip 1135"/>
          <p:cNvSpPr/>
          <p:nvPr/>
        </p:nvSpPr>
        <p:spPr>
          <a:xfrm>
            <a:off x="6446520" y="2002536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npm 11.6.2</a:t>
            </a:r>
          </a:p>
        </p:txBody>
      </p:sp>
      <p:sp>
        <p:nvSpPr>
          <p:cNvPr id="1136" name="Tech group 1136"/>
          <p:cNvSpPr/>
          <p:nvPr/>
        </p:nvSpPr>
        <p:spPr>
          <a:xfrm>
            <a:off x="457200" y="2441448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7" name="Icon badge 1137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8" name="Icon star4 1138"/>
          <p:cNvSpPr/>
          <p:nvPr/>
        </p:nvSpPr>
        <p:spPr>
          <a:xfrm>
            <a:off x="660197" y="2598725"/>
            <a:ext cx="142646" cy="142646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Text 1139"/>
          <p:cNvSpPr txBox="1"/>
          <p:nvPr/>
        </p:nvSpPr>
        <p:spPr>
          <a:xfrm>
            <a:off x="960120" y="2532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</a:t>
            </a:r>
          </a:p>
        </p:txBody>
      </p:sp>
      <p:sp>
        <p:nvSpPr>
          <p:cNvPr id="1140" name="Chip 1140"/>
          <p:cNvSpPr/>
          <p:nvPr/>
        </p:nvSpPr>
        <p:spPr>
          <a:xfrm>
            <a:off x="594360" y="2898648"/>
            <a:ext cx="14081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</a:t>
            </a:r>
          </a:p>
        </p:txBody>
      </p:sp>
      <p:sp>
        <p:nvSpPr>
          <p:cNvPr id="1141" name="Chip 1141"/>
          <p:cNvSpPr/>
          <p:nvPr/>
        </p:nvSpPr>
        <p:spPr>
          <a:xfrm>
            <a:off x="2093976" y="2898648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 (global)</a:t>
            </a:r>
          </a:p>
        </p:txBody>
      </p:sp>
      <p:sp>
        <p:nvSpPr>
          <p:cNvPr id="1142" name="Chip 1142"/>
          <p:cNvSpPr/>
          <p:nvPr/>
        </p:nvSpPr>
        <p:spPr>
          <a:xfrm>
            <a:off x="594360" y="3209544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@google/genai 2.28.0</a:t>
            </a:r>
          </a:p>
        </p:txBody>
      </p:sp>
      <p:sp>
        <p:nvSpPr>
          <p:cNvPr id="1143" name="Chip 1143"/>
          <p:cNvSpPr/>
          <p:nvPr/>
        </p:nvSpPr>
        <p:spPr>
          <a:xfrm>
            <a:off x="2386584" y="3209544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response schema</a:t>
            </a:r>
          </a:p>
        </p:txBody>
      </p:sp>
      <p:sp>
        <p:nvSpPr>
          <p:cNvPr id="1144" name="Tech group 1144"/>
          <p:cNvSpPr/>
          <p:nvPr/>
        </p:nvSpPr>
        <p:spPr>
          <a:xfrm>
            <a:off x="4663440" y="2441448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5" name="Icon badge 1145"/>
          <p:cNvSpPr/>
          <p:nvPr/>
        </p:nvSpPr>
        <p:spPr>
          <a:xfrm>
            <a:off x="4800600" y="2532888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Icon can 1146"/>
          <p:cNvSpPr/>
          <p:nvPr/>
        </p:nvSpPr>
        <p:spPr>
          <a:xfrm>
            <a:off x="4866437" y="2598725"/>
            <a:ext cx="142646" cy="142646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7" name="Text 1147"/>
          <p:cNvSpPr txBox="1"/>
          <p:nvPr/>
        </p:nvSpPr>
        <p:spPr>
          <a:xfrm>
            <a:off x="5166360" y="2532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Data</a:t>
            </a:r>
          </a:p>
        </p:txBody>
      </p:sp>
      <p:sp>
        <p:nvSpPr>
          <p:cNvPr id="1148" name="Chip 1148"/>
          <p:cNvSpPr/>
          <p:nvPr/>
        </p:nvSpPr>
        <p:spPr>
          <a:xfrm>
            <a:off x="4800600" y="2898648"/>
            <a:ext cx="133502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Firestore</a:t>
            </a:r>
          </a:p>
        </p:txBody>
      </p:sp>
      <p:sp>
        <p:nvSpPr>
          <p:cNvPr id="1149" name="Chip 1149"/>
          <p:cNvSpPr/>
          <p:nvPr/>
        </p:nvSpPr>
        <p:spPr>
          <a:xfrm>
            <a:off x="6227064" y="2898648"/>
            <a:ext cx="16276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SDK 9.3.1</a:t>
            </a:r>
          </a:p>
        </p:txBody>
      </p:sp>
      <p:sp>
        <p:nvSpPr>
          <p:cNvPr id="1150" name="Chip 1150"/>
          <p:cNvSpPr/>
          <p:nvPr/>
        </p:nvSpPr>
        <p:spPr>
          <a:xfrm>
            <a:off x="4800600" y="3209544"/>
            <a:ext cx="33832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Firebase emulator for local Firestore tests</a:t>
            </a:r>
          </a:p>
        </p:txBody>
      </p:sp>
      <p:sp>
        <p:nvSpPr>
          <p:cNvPr id="1151" name="Tech group 1151"/>
          <p:cNvSpPr/>
          <p:nvPr/>
        </p:nvSpPr>
        <p:spPr>
          <a:xfrm>
            <a:off x="457200" y="3648456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Icon badge 1152"/>
          <p:cNvSpPr/>
          <p:nvPr/>
        </p:nvSpPr>
        <p:spPr>
          <a:xfrm>
            <a:off x="594360" y="3739896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3" name="Icon cloud 1153"/>
          <p:cNvSpPr/>
          <p:nvPr/>
        </p:nvSpPr>
        <p:spPr>
          <a:xfrm>
            <a:off x="660197" y="3805733"/>
            <a:ext cx="142646" cy="142646"/>
          </a:xfrm>
          <a:prstGeom prst="cloud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4" name="Text 1154"/>
          <p:cNvSpPr txBox="1"/>
          <p:nvPr/>
        </p:nvSpPr>
        <p:spPr>
          <a:xfrm>
            <a:off x="960120" y="37398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/ DevOps</a:t>
            </a:r>
          </a:p>
        </p:txBody>
      </p:sp>
      <p:sp>
        <p:nvSpPr>
          <p:cNvPr id="1155" name="Chip 1155"/>
          <p:cNvSpPr/>
          <p:nvPr/>
        </p:nvSpPr>
        <p:spPr>
          <a:xfrm>
            <a:off x="594360" y="4105656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services + Job</a:t>
            </a:r>
          </a:p>
        </p:txBody>
      </p:sp>
      <p:sp>
        <p:nvSpPr>
          <p:cNvPr id="1156" name="Chip 1156"/>
          <p:cNvSpPr/>
          <p:nvPr/>
        </p:nvSpPr>
        <p:spPr>
          <a:xfrm>
            <a:off x="2679192" y="4105656"/>
            <a:ext cx="148132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Artifact Registry</a:t>
            </a:r>
          </a:p>
        </p:txBody>
      </p:sp>
      <p:sp>
        <p:nvSpPr>
          <p:cNvPr id="1157" name="Chip 1157"/>
          <p:cNvSpPr/>
          <p:nvPr/>
        </p:nvSpPr>
        <p:spPr>
          <a:xfrm>
            <a:off x="594360" y="4416552"/>
            <a:ext cx="14081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IAM + Google IAP</a:t>
            </a:r>
          </a:p>
        </p:txBody>
      </p:sp>
      <p:sp>
        <p:nvSpPr>
          <p:cNvPr id="1158" name="Chip 1158"/>
          <p:cNvSpPr/>
          <p:nvPr/>
        </p:nvSpPr>
        <p:spPr>
          <a:xfrm>
            <a:off x="2093976" y="4416552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Docker</a:t>
            </a:r>
          </a:p>
        </p:txBody>
      </p:sp>
      <p:sp>
        <p:nvSpPr>
          <p:cNvPr id="1159" name="Tech group 1159"/>
          <p:cNvSpPr/>
          <p:nvPr/>
        </p:nvSpPr>
        <p:spPr>
          <a:xfrm>
            <a:off x="4663440" y="3648456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0" name="Icon badge 1160"/>
          <p:cNvSpPr/>
          <p:nvPr/>
        </p:nvSpPr>
        <p:spPr>
          <a:xfrm>
            <a:off x="4800600" y="3739896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1" name="Icon check 1161"/>
          <p:cNvSpPr/>
          <p:nvPr/>
        </p:nvSpPr>
        <p:spPr>
          <a:xfrm>
            <a:off x="4866437" y="3805733"/>
            <a:ext cx="142646" cy="142646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Text 1162"/>
          <p:cNvSpPr txBox="1"/>
          <p:nvPr/>
        </p:nvSpPr>
        <p:spPr>
          <a:xfrm>
            <a:off x="5166360" y="37398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Testing</a:t>
            </a:r>
          </a:p>
        </p:txBody>
      </p:sp>
      <p:sp>
        <p:nvSpPr>
          <p:cNvPr id="1163" name="Chip 1163"/>
          <p:cNvSpPr/>
          <p:nvPr/>
        </p:nvSpPr>
        <p:spPr>
          <a:xfrm>
            <a:off x="4800600" y="4105656"/>
            <a:ext cx="16276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node:test, 292 pass</a:t>
            </a:r>
          </a:p>
        </p:txBody>
      </p:sp>
      <p:sp>
        <p:nvSpPr>
          <p:cNvPr id="1164" name="Chip 1164"/>
          <p:cNvSpPr/>
          <p:nvPr/>
        </p:nvSpPr>
        <p:spPr>
          <a:xfrm>
            <a:off x="6519672" y="4105656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emulator tests</a:t>
            </a:r>
          </a:p>
        </p:txBody>
      </p:sp>
      <p:sp>
        <p:nvSpPr>
          <p:cNvPr id="1165" name="Chip 1165"/>
          <p:cNvSpPr/>
          <p:nvPr/>
        </p:nvSpPr>
        <p:spPr>
          <a:xfrm>
            <a:off x="4800600" y="4416552"/>
            <a:ext cx="19202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Playwright, 320-1440 px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36" name="RoomDrop logo 1136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Phone frame 1137"/>
          <p:cNvSpPr/>
          <p:nvPr/>
        </p:nvSpPr>
        <p:spPr>
          <a:xfrm>
            <a:off x="844734" y="1234440"/>
            <a:ext cx="1522184" cy="3127248"/>
          </a:xfrm>
          <a:prstGeom prst="roundRect">
            <a:avLst>
              <a:gd name="adj" fmla="val 9611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38" name="Screenshot 1138" descr="Find your next 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98" y="1289304"/>
            <a:ext cx="1412456" cy="3017520"/>
          </a:xfrm>
          <a:prstGeom prst="roundRect">
            <a:avLst>
              <a:gd name="adj" fmla="val 7121"/>
            </a:avLst>
          </a:prstGeom>
          <a:noFill/>
          <a:ln>
            <a:noFill/>
          </a:ln>
        </p:spPr>
      </p:pic>
      <p:sp>
        <p:nvSpPr>
          <p:cNvPr id="1139" name="Text 1139"/>
          <p:cNvSpPr txBox="1"/>
          <p:nvPr/>
        </p:nvSpPr>
        <p:spPr>
          <a:xfrm>
            <a:off x="691426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Find your next drop</a:t>
            </a:r>
          </a:p>
        </p:txBody>
      </p:sp>
      <p:sp>
        <p:nvSpPr>
          <p:cNvPr id="1140" name="Phone frame 1140"/>
          <p:cNvSpPr/>
          <p:nvPr/>
        </p:nvSpPr>
        <p:spPr>
          <a:xfrm>
            <a:off x="2824118" y="1234440"/>
            <a:ext cx="1522184" cy="3127248"/>
          </a:xfrm>
          <a:prstGeom prst="roundRect">
            <a:avLst>
              <a:gd name="adj" fmla="val 9611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1" name="Screenshot 1141" descr="Peek at a dr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8982" y="1289304"/>
            <a:ext cx="1412456" cy="3017520"/>
          </a:xfrm>
          <a:prstGeom prst="roundRect">
            <a:avLst>
              <a:gd name="adj" fmla="val 7121"/>
            </a:avLst>
          </a:prstGeom>
          <a:noFill/>
          <a:ln>
            <a:noFill/>
          </a:ln>
        </p:spPr>
      </p:pic>
      <p:sp>
        <p:nvSpPr>
          <p:cNvPr id="1142" name="Text 1142"/>
          <p:cNvSpPr txBox="1"/>
          <p:nvPr/>
        </p:nvSpPr>
        <p:spPr>
          <a:xfrm>
            <a:off x="2670811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Peek at a drop</a:t>
            </a:r>
          </a:p>
        </p:txBody>
      </p:sp>
      <p:sp>
        <p:nvSpPr>
          <p:cNvPr id="1143" name="Phone frame 1143"/>
          <p:cNvSpPr/>
          <p:nvPr/>
        </p:nvSpPr>
        <p:spPr>
          <a:xfrm>
            <a:off x="4803503" y="1234440"/>
            <a:ext cx="1517691" cy="3127248"/>
          </a:xfrm>
          <a:prstGeom prst="roundRect">
            <a:avLst>
              <a:gd name="adj" fmla="val 9639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4" name="Screenshot 1144" descr="Ask Gemin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8367" y="1289304"/>
            <a:ext cx="1407963" cy="3017520"/>
          </a:xfrm>
          <a:prstGeom prst="roundRect">
            <a:avLst>
              <a:gd name="adj" fmla="val 7143"/>
            </a:avLst>
          </a:prstGeom>
          <a:noFill/>
          <a:ln>
            <a:noFill/>
          </a:ln>
        </p:spPr>
      </p:pic>
      <p:sp>
        <p:nvSpPr>
          <p:cNvPr id="1145" name="Text 1145"/>
          <p:cNvSpPr txBox="1"/>
          <p:nvPr/>
        </p:nvSpPr>
        <p:spPr>
          <a:xfrm>
            <a:off x="4647948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Ask Gemini</a:t>
            </a:r>
          </a:p>
        </p:txBody>
      </p:sp>
      <p:sp>
        <p:nvSpPr>
          <p:cNvPr id="1146" name="Phone frame 1146"/>
          <p:cNvSpPr/>
          <p:nvPr/>
        </p:nvSpPr>
        <p:spPr>
          <a:xfrm>
            <a:off x="6778393" y="1234440"/>
            <a:ext cx="1520872" cy="3127248"/>
          </a:xfrm>
          <a:prstGeom prst="roundRect">
            <a:avLst>
              <a:gd name="adj" fmla="val 9619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7" name="Screenshot 1147" descr="Confirm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3257" y="1289304"/>
            <a:ext cx="1411144" cy="3017520"/>
          </a:xfrm>
          <a:prstGeom prst="roundRect">
            <a:avLst>
              <a:gd name="adj" fmla="val 7127"/>
            </a:avLst>
          </a:prstGeom>
          <a:noFill/>
          <a:ln>
            <a:noFill/>
          </a:ln>
        </p:spPr>
      </p:pic>
      <p:sp>
        <p:nvSpPr>
          <p:cNvPr id="1148" name="Text 1148"/>
          <p:cNvSpPr txBox="1"/>
          <p:nvPr/>
        </p:nvSpPr>
        <p:spPr>
          <a:xfrm>
            <a:off x="6624430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Confirmed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44" name="RoomDrop logo 1144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Callout 1145"/>
          <p:cNvSpPr/>
          <p:nvPr/>
        </p:nvSpPr>
        <p:spPr>
          <a:xfrm>
            <a:off x="45720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Text 1146"/>
          <p:cNvSpPr txBox="1"/>
          <p:nvPr/>
        </p:nvSpPr>
        <p:spPr>
          <a:xfrm>
            <a:off x="59436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100/100</a:t>
            </a:r>
          </a:p>
        </p:txBody>
      </p:sp>
      <p:sp>
        <p:nvSpPr>
          <p:cNvPr id="1147" name="Text 1147"/>
          <p:cNvSpPr txBox="1"/>
          <p:nvPr/>
        </p:nvSpPr>
        <p:spPr>
          <a:xfrm>
            <a:off x="59436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Accessibility and Best Practices, mobile and desktop</a:t>
            </a:r>
          </a:p>
        </p:txBody>
      </p:sp>
      <p:sp>
        <p:nvSpPr>
          <p:cNvPr id="1148" name="Callout 1148"/>
          <p:cNvSpPr/>
          <p:nvPr/>
        </p:nvSpPr>
        <p:spPr>
          <a:xfrm>
            <a:off x="256032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9" name="Text 1149"/>
          <p:cNvSpPr txBox="1"/>
          <p:nvPr/>
        </p:nvSpPr>
        <p:spPr>
          <a:xfrm>
            <a:off x="269748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3.3 s</a:t>
            </a:r>
          </a:p>
        </p:txBody>
      </p:sp>
      <p:sp>
        <p:nvSpPr>
          <p:cNvPr id="1150" name="Text 1150"/>
          <p:cNvSpPr txBox="1"/>
          <p:nvPr/>
        </p:nvSpPr>
        <p:spPr>
          <a:xfrm>
            <a:off x="269748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median Gemini reply; 7/7 passed grounding checks</a:t>
            </a:r>
          </a:p>
        </p:txBody>
      </p:sp>
      <p:sp>
        <p:nvSpPr>
          <p:cNvPr id="1151" name="Callout 1151"/>
          <p:cNvSpPr/>
          <p:nvPr/>
        </p:nvSpPr>
        <p:spPr>
          <a:xfrm>
            <a:off x="466344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Text 1152"/>
          <p:cNvSpPr txBox="1"/>
          <p:nvPr/>
        </p:nvSpPr>
        <p:spPr>
          <a:xfrm>
            <a:off x="480060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77 ms</a:t>
            </a:r>
          </a:p>
        </p:txBody>
      </p:sp>
      <p:sp>
        <p:nvSpPr>
          <p:cNvPr id="1153" name="Text 1153"/>
          <p:cNvSpPr txBox="1"/>
          <p:nvPr/>
        </p:nvSpPr>
        <p:spPr>
          <a:xfrm>
            <a:off x="480060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warm page TTFB from Malaysia (server ~3 ms)</a:t>
            </a:r>
          </a:p>
        </p:txBody>
      </p:sp>
      <p:sp>
        <p:nvSpPr>
          <p:cNvPr id="1154" name="Callout 1154"/>
          <p:cNvSpPr/>
          <p:nvPr/>
        </p:nvSpPr>
        <p:spPr>
          <a:xfrm>
            <a:off x="676656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5" name="Text 1155"/>
          <p:cNvSpPr txBox="1"/>
          <p:nvPr/>
        </p:nvSpPr>
        <p:spPr>
          <a:xfrm>
            <a:off x="690372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292 pass</a:t>
            </a:r>
          </a:p>
        </p:txBody>
      </p:sp>
      <p:sp>
        <p:nvSpPr>
          <p:cNvPr id="1156" name="Text 1156"/>
          <p:cNvSpPr txBox="1"/>
          <p:nvPr/>
        </p:nvSpPr>
        <p:spPr>
          <a:xfrm>
            <a:off x="690372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 failures; 6 skips need the Firestore emulator</a:t>
            </a:r>
          </a:p>
        </p:txBody>
      </p:sp>
      <p:graphicFrame>
        <p:nvGraphicFramePr>
          <p:cNvPr id="1157" name="Metrics table 1157"/>
          <p:cNvGraphicFramePr>
            <a:graphicFrameLocks noGrp="1"/>
          </p:cNvGraphicFramePr>
          <p:nvPr/>
        </p:nvGraphicFramePr>
        <p:xfrm>
          <a:off x="457200" y="2514600"/>
          <a:ext cx="4480560" cy="2121408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Lighthouse (median of 3)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Mobile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Desktop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Performance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75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89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Accessibility / Best Practices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 / 100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 / 100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SEO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91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91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First Contentful Paint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1.5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0.43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Largest Contentful Paint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D95241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12.2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D95241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2.2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Total Blocking Time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12 ms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 ms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Cumulative Layout Shift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0.003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58" name="Text 1158"/>
          <p:cNvSpPr txBox="1"/>
          <p:nvPr/>
        </p:nvSpPr>
        <p:spPr>
          <a:xfrm>
            <a:off x="5212080" y="251460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we measured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18 Oct 2026, live Cloud Run URL (asia-southeast1, scales to zero). Lighthouse 12.8.2 x3 per preset; curl x10 sequential from Malaysia; 7 sequential Gemini chat calls.</a:t>
            </a:r>
          </a:p>
        </p:txBody>
      </p:sp>
      <p:sp>
        <p:nvSpPr>
          <p:cNvPr id="1159" name="Next note 1159"/>
          <p:cNvSpPr/>
          <p:nvPr/>
        </p:nvSpPr>
        <p:spPr>
          <a:xfrm>
            <a:off x="5212080" y="38404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0" name="Text 1160"/>
          <p:cNvSpPr txBox="1"/>
          <p:nvPr/>
        </p:nvSpPr>
        <p:spPr>
          <a:xfrm>
            <a:off x="5349240" y="38862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Next: compress images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Mobile LCP is 12.2 s from 2.6 MB of PNG/JPG. WebP/AVIF and responsive sizes save ~1.2 MB.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52" name="RoomDrop logo 1152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Roadmap card 1153"/>
          <p:cNvSpPr/>
          <p:nvPr/>
        </p:nvSpPr>
        <p:spPr>
          <a:xfrm>
            <a:off x="457200" y="123444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4" name="Roadmap number 1154"/>
          <p:cNvSpPr/>
          <p:nvPr/>
        </p:nvSpPr>
        <p:spPr>
          <a:xfrm>
            <a:off x="585216" y="1371600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155" name="Text 1155"/>
          <p:cNvSpPr txBox="1"/>
          <p:nvPr/>
        </p:nvSpPr>
        <p:spPr>
          <a:xfrm>
            <a:off x="1005840" y="1344168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Share-link intake</a:t>
            </a:r>
          </a:p>
        </p:txBody>
      </p:sp>
      <p:sp>
        <p:nvSpPr>
          <p:cNvPr id="1156" name="Text 1156"/>
          <p:cNvSpPr txBox="1"/>
          <p:nvPr/>
        </p:nvSpPr>
        <p:spPr>
          <a:xfrm>
            <a:off x="1005840" y="1709928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sends an Altovo link; booking and drops persist in Firestore</a:t>
            </a:r>
          </a:p>
        </p:txBody>
      </p:sp>
      <p:sp>
        <p:nvSpPr>
          <p:cNvPr id="1157" name="Roadmap card 1157"/>
          <p:cNvSpPr/>
          <p:nvPr/>
        </p:nvSpPr>
        <p:spPr>
          <a:xfrm>
            <a:off x="3108960" y="123444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8" name="Roadmap number 1158"/>
          <p:cNvSpPr/>
          <p:nvPr/>
        </p:nvSpPr>
        <p:spPr>
          <a:xfrm>
            <a:off x="3236976" y="1371600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159" name="Text 1159"/>
          <p:cNvSpPr txBox="1"/>
          <p:nvPr/>
        </p:nvSpPr>
        <p:spPr>
          <a:xfrm>
            <a:off x="3657600" y="1344168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Scheduled Drop Watch</a:t>
            </a:r>
          </a:p>
        </p:txBody>
      </p:sp>
      <p:sp>
        <p:nvSpPr>
          <p:cNvPr id="1160" name="Text 1160"/>
          <p:cNvSpPr txBox="1"/>
          <p:nvPr/>
        </p:nvSpPr>
        <p:spPr>
          <a:xfrm>
            <a:off x="3657600" y="1709928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Scheduler runs the price-watch job daily on live supplier rates</a:t>
            </a:r>
          </a:p>
        </p:txBody>
      </p:sp>
      <p:sp>
        <p:nvSpPr>
          <p:cNvPr id="1161" name="Roadmap card 1161"/>
          <p:cNvSpPr/>
          <p:nvPr/>
        </p:nvSpPr>
        <p:spPr>
          <a:xfrm>
            <a:off x="457200" y="2450592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Roadmap number 1162"/>
          <p:cNvSpPr/>
          <p:nvPr/>
        </p:nvSpPr>
        <p:spPr>
          <a:xfrm>
            <a:off x="585216" y="2587752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163" name="Text 1163"/>
          <p:cNvSpPr txBox="1"/>
          <p:nvPr/>
        </p:nvSpPr>
        <p:spPr>
          <a:xfrm>
            <a:off x="1005840" y="256032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Drop alerts</a:t>
            </a:r>
          </a:p>
        </p:txBody>
      </p:sp>
      <p:sp>
        <p:nvSpPr>
          <p:cNvPr id="1164" name="Text 1164"/>
          <p:cNvSpPr txBox="1"/>
          <p:nvPr/>
        </p:nvSpPr>
        <p:spPr>
          <a:xfrm>
            <a:off x="1005840" y="2926080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Notify when a drop beats the traveller's minimum saving</a:t>
            </a:r>
          </a:p>
        </p:txBody>
      </p:sp>
      <p:sp>
        <p:nvSpPr>
          <p:cNvPr id="1165" name="Roadmap card 1165"/>
          <p:cNvSpPr/>
          <p:nvPr/>
        </p:nvSpPr>
        <p:spPr>
          <a:xfrm>
            <a:off x="3108960" y="2450592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6" name="Roadmap number 1166"/>
          <p:cNvSpPr/>
          <p:nvPr/>
        </p:nvSpPr>
        <p:spPr>
          <a:xfrm>
            <a:off x="3236976" y="2587752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167" name="Text 1167"/>
          <p:cNvSpPr txBox="1"/>
          <p:nvPr/>
        </p:nvSpPr>
        <p:spPr>
          <a:xfrm>
            <a:off x="3657600" y="256032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Real rebooking</a:t>
            </a:r>
          </a:p>
        </p:txBody>
      </p:sp>
      <p:sp>
        <p:nvSpPr>
          <p:cNvPr id="1168" name="Text 1168"/>
          <p:cNvSpPr txBox="1"/>
          <p:nvPr/>
        </p:nvSpPr>
        <p:spPr>
          <a:xfrm>
            <a:off x="3657600" y="2926080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Turn a chosen drop into a new booking, cancel the old one, refund</a:t>
            </a:r>
          </a:p>
        </p:txBody>
      </p:sp>
      <p:sp>
        <p:nvSpPr>
          <p:cNvPr id="1169" name="Roadmap card 1169"/>
          <p:cNvSpPr/>
          <p:nvPr/>
        </p:nvSpPr>
        <p:spPr>
          <a:xfrm>
            <a:off x="457200" y="3666744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0" name="Roadmap number 1170"/>
          <p:cNvSpPr/>
          <p:nvPr/>
        </p:nvSpPr>
        <p:spPr>
          <a:xfrm>
            <a:off x="585216" y="3803904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171" name="Text 1171"/>
          <p:cNvSpPr txBox="1"/>
          <p:nvPr/>
        </p:nvSpPr>
        <p:spPr>
          <a:xfrm>
            <a:off x="1005840" y="3776472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 sign-in</a:t>
            </a:r>
          </a:p>
        </p:txBody>
      </p:sp>
      <p:sp>
        <p:nvSpPr>
          <p:cNvPr id="1172" name="Text 1172"/>
          <p:cNvSpPr txBox="1"/>
          <p:nvPr/>
        </p:nvSpPr>
        <p:spPr>
          <a:xfrm>
            <a:off x="1005840" y="414223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Invitations and identity so travellers can return to their drops</a:t>
            </a:r>
          </a:p>
        </p:txBody>
      </p:sp>
      <p:sp>
        <p:nvSpPr>
          <p:cNvPr id="1173" name="Roadmap card 1173"/>
          <p:cNvSpPr/>
          <p:nvPr/>
        </p:nvSpPr>
        <p:spPr>
          <a:xfrm>
            <a:off x="3108960" y="3666744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4" name="Roadmap number 1174"/>
          <p:cNvSpPr/>
          <p:nvPr/>
        </p:nvSpPr>
        <p:spPr>
          <a:xfrm>
            <a:off x="3236976" y="3803904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175" name="Text 1175"/>
          <p:cNvSpPr txBox="1"/>
          <p:nvPr/>
        </p:nvSpPr>
        <p:spPr>
          <a:xfrm>
            <a:off x="3657600" y="3776472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actions</a:t>
            </a:r>
          </a:p>
        </p:txBody>
      </p:sp>
      <p:sp>
        <p:nvSpPr>
          <p:cNvPr id="1176" name="Text 1176"/>
          <p:cNvSpPr txBox="1"/>
          <p:nvPr/>
        </p:nvSpPr>
        <p:spPr>
          <a:xfrm>
            <a:off x="3657600" y="414223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 on cases from the IAP console; October UX review fixes</a:t>
            </a:r>
          </a:p>
        </p:txBody>
      </p:sp>
      <p:sp>
        <p:nvSpPr>
          <p:cNvPr id="1177" name="Guardrails 1177"/>
          <p:cNvSpPr/>
          <p:nvPr/>
        </p:nvSpPr>
        <p:spPr>
          <a:xfrm>
            <a:off x="5760720" y="1234440"/>
            <a:ext cx="2926080" cy="3529584"/>
          </a:xfrm>
          <a:prstGeom prst="roundRect">
            <a:avLst>
              <a:gd name="adj" fmla="val 3750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8" name="Icon badge 1178"/>
          <p:cNvSpPr/>
          <p:nvPr/>
        </p:nvSpPr>
        <p:spPr>
          <a:xfrm>
            <a:off x="5925312" y="1380744"/>
            <a:ext cx="365760" cy="36576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9" name="Icon shield 1179"/>
          <p:cNvSpPr/>
          <p:nvPr/>
        </p:nvSpPr>
        <p:spPr>
          <a:xfrm>
            <a:off x="6013094" y="1468526"/>
            <a:ext cx="190195" cy="190195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94" y="16"/>
                </a:lnTo>
                <a:lnTo>
                  <a:pt x="94" y="48"/>
                </a:lnTo>
                <a:cubicBezTo>
                  <a:pt x="94" y="74"/>
                  <a:pt x="76" y="92"/>
                  <a:pt x="50" y="100"/>
                </a:cubicBezTo>
                <a:cubicBezTo>
                  <a:pt x="24" y="92"/>
                  <a:pt x="6" y="74"/>
                  <a:pt x="6" y="48"/>
                </a:cubicBezTo>
                <a:lnTo>
                  <a:pt x="6" y="16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0" name="Text 1180"/>
          <p:cNvSpPr txBox="1"/>
          <p:nvPr/>
        </p:nvSpPr>
        <p:spPr>
          <a:xfrm>
            <a:off x="6382512" y="138074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Trust guardrails, live</a:t>
            </a:r>
          </a:p>
        </p:txBody>
      </p:sp>
      <p:sp>
        <p:nvSpPr>
          <p:cNvPr id="1181" name="Check 1181"/>
          <p:cNvSpPr/>
          <p:nvPr/>
        </p:nvSpPr>
        <p:spPr>
          <a:xfrm>
            <a:off x="5961888" y="193852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2" name="Text 1182"/>
          <p:cNvSpPr txBox="1"/>
          <p:nvPr/>
        </p:nvSpPr>
        <p:spPr>
          <a:xfrm>
            <a:off x="6263640" y="189280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replies are schema-bound IDs, re-validated by the server</a:t>
            </a:r>
          </a:p>
        </p:txBody>
      </p:sp>
      <p:sp>
        <p:nvSpPr>
          <p:cNvPr id="1183" name="Check 1183"/>
          <p:cNvSpPr/>
          <p:nvPr/>
        </p:nvSpPr>
        <p:spPr>
          <a:xfrm>
            <a:off x="5961888" y="241401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4" name="Text 1184"/>
          <p:cNvSpPr txBox="1"/>
          <p:nvPr/>
        </p:nvSpPr>
        <p:spPr>
          <a:xfrm>
            <a:off x="6263640" y="2368296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Money is computed by code, never by the model</a:t>
            </a:r>
          </a:p>
        </p:txBody>
      </p:sp>
      <p:sp>
        <p:nvSpPr>
          <p:cNvPr id="1185" name="Check 1185"/>
          <p:cNvSpPr/>
          <p:nvPr/>
        </p:nvSpPr>
        <p:spPr>
          <a:xfrm>
            <a:off x="5961888" y="2889504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6" name="Text 1186"/>
          <p:cNvSpPr txBox="1"/>
          <p:nvPr/>
        </p:nvSpPr>
        <p:spPr>
          <a:xfrm>
            <a:off x="6263640" y="2843784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Only allowlisted facts reach Vertex AI; no guest data</a:t>
            </a:r>
          </a:p>
        </p:txBody>
      </p:sp>
      <p:sp>
        <p:nvSpPr>
          <p:cNvPr id="1187" name="Check 1187"/>
          <p:cNvSpPr/>
          <p:nvPr/>
        </p:nvSpPr>
        <p:spPr>
          <a:xfrm>
            <a:off x="5961888" y="3364992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8" name="Text 1188"/>
          <p:cNvSpPr txBox="1"/>
          <p:nvPr/>
        </p:nvSpPr>
        <p:spPr>
          <a:xfrm>
            <a:off x="6263640" y="331927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Selection only: no booking, payment or refund routes</a:t>
            </a:r>
          </a:p>
        </p:txBody>
      </p:sp>
      <p:sp>
        <p:nvSpPr>
          <p:cNvPr id="1189" name="Check 1189"/>
          <p:cNvSpPr/>
          <p:nvPr/>
        </p:nvSpPr>
        <p:spPr>
          <a:xfrm>
            <a:off x="5961888" y="384048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90" name="Text 1190"/>
          <p:cNvSpPr txBox="1"/>
          <p:nvPr/>
        </p:nvSpPr>
        <p:spPr>
          <a:xfrm>
            <a:off x="6263640" y="37947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Non-refundable drops need an explicit tick</a:t>
            </a:r>
          </a:p>
        </p:txBody>
      </p:sp>
      <p:sp>
        <p:nvSpPr>
          <p:cNvPr id="1191" name="Check 1191"/>
          <p:cNvSpPr/>
          <p:nvPr/>
        </p:nvSpPr>
        <p:spPr>
          <a:xfrm>
            <a:off x="5961888" y="43159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92" name="Text 1192"/>
          <p:cNvSpPr txBox="1"/>
          <p:nvPr/>
        </p:nvSpPr>
        <p:spPr>
          <a:xfrm>
            <a:off x="6263640" y="427024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service-account keys; agency behind IAP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60" name="RoomDrop logo 1160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Link row 1161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Icon badge 1162"/>
          <p:cNvSpPr/>
          <p:nvPr/>
        </p:nvSpPr>
        <p:spPr>
          <a:xfrm>
            <a:off x="731520" y="154533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3" name="Icon code 1163"/>
          <p:cNvSpPr/>
          <p:nvPr/>
        </p:nvSpPr>
        <p:spPr>
          <a:xfrm>
            <a:off x="836859" y="1650675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30" y="20"/>
                </a:moveTo>
                <a:lnTo>
                  <a:pt x="40" y="30"/>
                </a:lnTo>
                <a:lnTo>
                  <a:pt x="20" y="50"/>
                </a:lnTo>
                <a:lnTo>
                  <a:pt x="40" y="70"/>
                </a:lnTo>
                <a:lnTo>
                  <a:pt x="30" y="80"/>
                </a:lnTo>
                <a:lnTo>
                  <a:pt x="0" y="50"/>
                </a:lnTo>
                <a:close/>
              </a:path>
              <a:path w="100" h="100">
                <a:moveTo>
                  <a:pt x="70" y="20"/>
                </a:moveTo>
                <a:lnTo>
                  <a:pt x="100" y="50"/>
                </a:lnTo>
                <a:lnTo>
                  <a:pt x="70" y="80"/>
                </a:lnTo>
                <a:lnTo>
                  <a:pt x="60" y="70"/>
                </a:lnTo>
                <a:lnTo>
                  <a:pt x="80" y="50"/>
                </a:lnTo>
                <a:lnTo>
                  <a:pt x="60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4" name="Text 1164"/>
          <p:cNvSpPr txBox="1"/>
          <p:nvPr/>
        </p:nvSpPr>
        <p:spPr>
          <a:xfrm>
            <a:off x="1325880" y="137160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</a:p>
        </p:txBody>
      </p:sp>
      <p:sp>
        <p:nvSpPr>
          <p:cNvPr id="1165" name="Text 1165"/>
          <p:cNvSpPr txBox="1"/>
          <p:nvPr/>
        </p:nvSpPr>
        <p:spPr>
          <a:xfrm>
            <a:off x="4160520" y="137160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https://github.com/pohlipit23/hotel-price-hunter</a:t>
            </a:r>
          </a:p>
        </p:txBody>
      </p:sp>
      <p:sp>
        <p:nvSpPr>
          <p:cNvPr id="1166" name="Link row 1166"/>
          <p:cNvSpPr/>
          <p:nvPr/>
        </p:nvSpPr>
        <p:spPr>
          <a:xfrm>
            <a:off x="548640" y="237744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7" name="Icon badge 1167"/>
          <p:cNvSpPr/>
          <p:nvPr/>
        </p:nvSpPr>
        <p:spPr>
          <a:xfrm>
            <a:off x="731520" y="255117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8" name="Icon play 1168"/>
          <p:cNvSpPr/>
          <p:nvPr/>
        </p:nvSpPr>
        <p:spPr>
          <a:xfrm>
            <a:off x="836859" y="2656515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20" y="8"/>
                </a:moveTo>
                <a:lnTo>
                  <a:pt x="90" y="50"/>
                </a:lnTo>
                <a:lnTo>
                  <a:pt x="20" y="92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9" name="Text 1169"/>
          <p:cNvSpPr txBox="1"/>
          <p:nvPr/>
        </p:nvSpPr>
        <p:spPr>
          <a:xfrm>
            <a:off x="1325880" y="23774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(3-4 Minutes)</a:t>
            </a:r>
          </a:p>
        </p:txBody>
      </p:sp>
      <p:sp>
        <p:nvSpPr>
          <p:cNvPr id="1170" name="Demo link placeholder 1170"/>
          <p:cNvSpPr/>
          <p:nvPr/>
        </p:nvSpPr>
        <p:spPr>
          <a:xfrm>
            <a:off x="4023360" y="2532888"/>
            <a:ext cx="4343400" cy="475488"/>
          </a:xfrm>
          <a:prstGeom prst="roundRect">
            <a:avLst>
              <a:gd name="adj" fmla="val 30000"/>
            </a:avLst>
          </a:prstGeom>
          <a:solidFill>
            <a:srgbClr val="FFF3C4"/>
          </a:solidFill>
          <a:ln w="19050">
            <a:solidFill>
              <a:srgbClr val="D95241"/>
            </a:solidFill>
            <a:prstDash val="dash"/>
            <a:round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VIDEO_LINK_HERE</a:t>
            </a:r>
          </a:p>
        </p:txBody>
      </p:sp>
      <p:sp>
        <p:nvSpPr>
          <p:cNvPr id="1171" name="Link row 1171"/>
          <p:cNvSpPr/>
          <p:nvPr/>
        </p:nvSpPr>
        <p:spPr>
          <a:xfrm>
            <a:off x="548640" y="338328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2" name="Icon badge 1172"/>
          <p:cNvSpPr/>
          <p:nvPr/>
        </p:nvSpPr>
        <p:spPr>
          <a:xfrm>
            <a:off x="731520" y="355701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73" name="Key icon 11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711401"/>
            <a:ext cx="329184" cy="13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Text 1174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</a:p>
        </p:txBody>
      </p:sp>
      <p:sp>
        <p:nvSpPr>
          <p:cNvPr id="1175" name="Text 1175"/>
          <p:cNvSpPr txBox="1"/>
          <p:nvPr/>
        </p:nvSpPr>
        <p:spPr>
          <a:xfrm>
            <a:off x="4160520" y="338328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u="sng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8"/>
              </a:rPr>
              <a:t>https://hotel-price-hunter-2qbcpylngq-as.a.run.app/</a:t>
            </a:r>
          </a:p>
        </p:txBody>
      </p:sp>
      <p:sp>
        <p:nvSpPr>
          <p:cNvPr id="1176" name="Text 1176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 </a:t>
            </a:r>
            <a:r>
              <a:rPr lang="en-GB" sz="14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Still catch the drop.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1200</Words>
  <Application>Microsoft Office PowerPoint</Application>
  <PresentationFormat>On-screen Show (16:9)</PresentationFormat>
  <Paragraphs>241</Paragraphs>
  <Slides>13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Google Sans Flex</vt:lpstr>
      <vt:lpstr>Google Sans Flex SemiBold</vt:lpstr>
      <vt:lpstr>Google Sans Flex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Pohlschmidt</cp:lastModifiedBy>
  <cp:revision>2</cp:revision>
  <dcterms:modified xsi:type="dcterms:W3CDTF">2026-10-18T12:03:20Z</dcterms:modified>
</cp:coreProperties>
</file>