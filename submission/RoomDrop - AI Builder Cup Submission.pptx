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72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7" r:id="rId11"/>
    <p:sldId id="268" r:id="rId12"/>
    <p:sldId id="269" r:id="rId13"/>
    <p:sldId id="271" r:id="rId14"/>
  </p:sldIdLst>
  <p:sldSz cx="9144000" cy="5143500" type="screen16x9"/>
  <p:notesSz cx="6858000" cy="9144000"/>
  <p:embeddedFontLst>
    <p:embeddedFont>
      <p:font typeface="Google Sans Flex" panose="020B0604020202020204" charset="0"/>
      <p:regular r:id="rId16"/>
      <p:bold r:id="rId17"/>
    </p:embeddedFont>
    <p:embeddedFont>
      <p:font typeface="Google Sans Flex Medium" panose="020B0604020202020204" charset="0"/>
      <p:regular r:id="rId18"/>
      <p:bold r:id="rId19"/>
    </p:embeddedFont>
    <p:embeddedFont>
      <p:font typeface="Google Sans Flex SemiBold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6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.jp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hotel-price-hunter-2qbcpylngq-as.a.run.app/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pohlipit23/hotel-price-hunter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dirty="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 dirty="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857250" lvl="1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GB" sz="1800" dirty="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lang="en-GB" sz="1800" dirty="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Triple-8</a:t>
            </a:r>
          </a:p>
          <a:p>
            <a:pPr marL="857250" lvl="1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GB" sz="1800" dirty="0">
                <a:latin typeface="Google Sans Flex"/>
                <a:ea typeface="Google Sans Flex"/>
                <a:cs typeface="Google Sans Flex"/>
                <a:sym typeface="Google Sans Flex SemiBold"/>
              </a:rPr>
              <a:t>Product:</a:t>
            </a:r>
            <a:r>
              <a:rPr lang="en-GB" sz="1800" dirty="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 </a:t>
            </a:r>
            <a:r>
              <a:rPr lang="en-GB" sz="1800" dirty="0" err="1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RoomDrop</a:t>
            </a:r>
            <a:endParaRPr sz="18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857250" lvl="1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GB" sz="1800" dirty="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lang="en-GB" sz="1800" dirty="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Pete</a:t>
            </a:r>
            <a:r>
              <a:rPr lang="en-GB" sz="1400" dirty="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 (team: Pete &amp; AJ)</a:t>
            </a:r>
            <a:endParaRPr sz="18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857250" lvl="1" indent="-285750" algn="l" rtl="0"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GB" sz="1800" dirty="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lang="en-GB" sz="1500" dirty="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Travellers book hotels early but fear missing a cheaper rate later. </a:t>
            </a:r>
            <a:r>
              <a:rPr lang="en-GB" sz="1500" dirty="0" err="1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RoomDrop</a:t>
            </a:r>
            <a:r>
              <a:rPr lang="en-GB" sz="1500" dirty="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lets them book early and still catch the drop. Peace of Mind Guaranteed!</a:t>
            </a:r>
            <a:endParaRPr sz="1800" dirty="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RoomDrop logo 1101" descr="RoomDrop logo">
            <a:extLst>
              <a:ext uri="{FF2B5EF4-FFF2-40B4-BE49-F238E27FC236}">
                <a16:creationId xmlns:a16="http://schemas.microsoft.com/office/drawing/2014/main" id="{7701D5D4-B7A6-A97C-389B-DF0A271544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644" y="2993002"/>
            <a:ext cx="1746956" cy="357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4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RoomDrop in 10 seconds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01" name="RoomDrop logo 1101" descr="RoomDrop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600200"/>
            <a:ext cx="2514600" cy="513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Text 1102"/>
          <p:cNvSpPr txBox="1"/>
          <p:nvPr/>
        </p:nvSpPr>
        <p:spPr>
          <a:xfrm>
            <a:off x="548640" y="233172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Book early.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Still catch the drop.</a:t>
            </a:r>
          </a:p>
        </p:txBody>
      </p:sp>
      <p:sp>
        <p:nvSpPr>
          <p:cNvPr id="1103" name="Text 1103"/>
          <p:cNvSpPr txBox="1"/>
          <p:nvPr/>
        </p:nvSpPr>
        <p:spPr>
          <a:xfrm>
            <a:off x="548640" y="3246120"/>
            <a:ext cx="26517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10-second tour of the live prototype: find a drop, peek, ask Gemini, confirm.</a:t>
            </a:r>
          </a:p>
        </p:txBody>
      </p:sp>
      <p:sp>
        <p:nvSpPr>
          <p:cNvPr id="1104" name="Play badge 1104"/>
          <p:cNvSpPr/>
          <p:nvPr/>
        </p:nvSpPr>
        <p:spPr>
          <a:xfrm>
            <a:off x="548640" y="4160520"/>
            <a:ext cx="274320" cy="274320"/>
          </a:xfrm>
          <a:prstGeom prst="ellipse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5" name="Play glyph 1105"/>
          <p:cNvSpPr/>
          <p:nvPr/>
        </p:nvSpPr>
        <p:spPr>
          <a:xfrm>
            <a:off x="635508" y="4224528"/>
            <a:ext cx="128016" cy="146304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20" y="8"/>
                </a:moveTo>
                <a:lnTo>
                  <a:pt x="90" y="50"/>
                </a:lnTo>
                <a:lnTo>
                  <a:pt x="20" y="9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6" name="Text 1106"/>
          <p:cNvSpPr txBox="1"/>
          <p:nvPr/>
        </p:nvSpPr>
        <p:spPr>
          <a:xfrm>
            <a:off x="914400" y="4142232"/>
            <a:ext cx="23774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Click the video to play</a:t>
            </a:r>
          </a:p>
        </p:txBody>
      </p:sp>
      <p:sp>
        <p:nvSpPr>
          <p:cNvPr id="1107" name="Video frame 1107"/>
          <p:cNvSpPr/>
          <p:nvPr/>
        </p:nvSpPr>
        <p:spPr>
          <a:xfrm>
            <a:off x="3510465" y="1197864"/>
            <a:ext cx="2123071" cy="3602736"/>
          </a:xfrm>
          <a:prstGeom prst="roundRect">
            <a:avLst>
              <a:gd name="adj" fmla="val 7333"/>
            </a:avLst>
          </a:prstGeom>
          <a:solidFill>
            <a:srgbClr val="1B2A3A"/>
          </a:solidFill>
          <a:ln>
            <a:noFill/>
          </a:ln>
          <a:effectLst>
            <a:outerShdw blurRad="128016" dist="36576" dir="5400000" algn="t" rotWithShape="0">
              <a:srgbClr val="1B2A3A">
                <a:alpha val="28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pic>
        <p:nvPicPr>
          <p:cNvPr id="1108" name="roomdrop_short.mp4" descr="RoomDrop 10 second promo 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574473" y="1261872"/>
            <a:ext cx="1995055" cy="3474720"/>
          </a:xfrm>
          <a:prstGeom prst="rect">
            <a:avLst/>
          </a:prstGeom>
        </p:spPr>
      </p:pic>
      <p:sp>
        <p:nvSpPr>
          <p:cNvPr id="1109" name="Stamp ring 1109"/>
          <p:cNvSpPr/>
          <p:nvPr/>
        </p:nvSpPr>
        <p:spPr>
          <a:xfrm rot="-600000">
            <a:off x="6537960" y="1508760"/>
            <a:ext cx="1508760" cy="150876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95241"/>
            </a:solidFill>
            <a:round/>
          </a:ln>
          <a:effectLst>
            <a:outerShdw blurRad="73152" dist="18288" dir="5400000" algn="t" rotWithShape="0">
              <a:srgbClr val="1B2A3A">
                <a:alpha val="18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0" name="Stamp 1110"/>
          <p:cNvSpPr/>
          <p:nvPr/>
        </p:nvSpPr>
        <p:spPr>
          <a:xfrm rot="-600000">
            <a:off x="6688836" y="1659636"/>
            <a:ext cx="1207008" cy="1207008"/>
          </a:xfrm>
          <a:prstGeom prst="ellipse">
            <a:avLst/>
          </a:prstGeom>
          <a:noFill/>
          <a:ln w="12700">
            <a:solidFill>
              <a:srgbClr val="D95241"/>
            </a:solidFill>
            <a:round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23" spc="6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BEST DROP</a:t>
            </a:r>
          </a:p>
          <a:p>
            <a:pPr mar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32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-217.55</a:t>
            </a:r>
          </a:p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22" spc="8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AED</a:t>
            </a:r>
          </a:p>
        </p:txBody>
      </p:sp>
      <p:sp>
        <p:nvSpPr>
          <p:cNvPr id="1111" name="Text 1111"/>
          <p:cNvSpPr txBox="1"/>
          <p:nvPr/>
        </p:nvSpPr>
        <p:spPr>
          <a:xfrm>
            <a:off x="6172200" y="3337560"/>
            <a:ext cx="2514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Real Altovo quotation</a:t>
            </a:r>
          </a:p>
          <a:p>
            <a:pPr mar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2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Impiana KLCC Hotel, Kuala Lumpur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AED 506.93  to  </a:t>
            </a:r>
            <a:r>
              <a:rPr lang="en-GB" sz="120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AED 289.38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80" fill="hold"/>
                                        <p:tgtEl>
                                          <p:spTgt spid="110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10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8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108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01" name="RoomDrop logo 1101" descr="RoomDrop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98448"/>
            <a:ext cx="2834640" cy="579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Text 1102"/>
          <p:cNvSpPr txBox="1"/>
          <p:nvPr/>
        </p:nvSpPr>
        <p:spPr>
          <a:xfrm>
            <a:off x="566928" y="196596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Book early. Still catch the drop.</a:t>
            </a:r>
          </a:p>
        </p:txBody>
      </p:sp>
      <p:pic>
        <p:nvPicPr>
          <p:cNvPr id="1103" name="Key bullet 11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2679192"/>
            <a:ext cx="384048" cy="151833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Text 1104"/>
          <p:cNvSpPr txBox="1"/>
          <p:nvPr/>
        </p:nvSpPr>
        <p:spPr>
          <a:xfrm>
            <a:off x="1097280" y="260604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Book your hotel early. RoomDrop keeps re-shopping the same stay for you.</a:t>
            </a:r>
          </a:p>
        </p:txBody>
      </p:sp>
      <p:pic>
        <p:nvPicPr>
          <p:cNvPr id="1105" name="Key bullet 110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3300984"/>
            <a:ext cx="384048" cy="151833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Text 1106"/>
          <p:cNvSpPr txBox="1"/>
          <p:nvPr/>
        </p:nvSpPr>
        <p:spPr>
          <a:xfrm>
            <a:off x="1097280" y="3227832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cheaper rate appears? See the drop, the saving and any flexibility you give up.</a:t>
            </a:r>
          </a:p>
        </p:txBody>
      </p:sp>
      <p:pic>
        <p:nvPicPr>
          <p:cNvPr id="1107" name="Key bullet 110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3922776"/>
            <a:ext cx="384048" cy="151833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Text 1108"/>
          <p:cNvSpPr txBox="1"/>
          <p:nvPr/>
        </p:nvSpPr>
        <p:spPr>
          <a:xfrm>
            <a:off x="1097280" y="3849624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Ask Gemini, tick the trade-off, confirm in one tap.</a:t>
            </a:r>
          </a:p>
        </p:txBody>
      </p:sp>
      <p:sp>
        <p:nvSpPr>
          <p:cNvPr id="1109" name="Google Cloud card 1109"/>
          <p:cNvSpPr/>
          <p:nvPr/>
        </p:nvSpPr>
        <p:spPr>
          <a:xfrm>
            <a:off x="5349240" y="1298448"/>
            <a:ext cx="3337560" cy="3474720"/>
          </a:xfrm>
          <a:prstGeom prst="roundRect">
            <a:avLst>
              <a:gd name="adj" fmla="val 3287"/>
            </a:avLst>
          </a:prstGeom>
          <a:solidFill>
            <a:srgbClr val="FEFBF5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0" name="Text 1110"/>
          <p:cNvSpPr txBox="1"/>
          <p:nvPr/>
        </p:nvSpPr>
        <p:spPr>
          <a:xfrm>
            <a:off x="5577840" y="146304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Built on Google Cloud</a:t>
            </a:r>
          </a:p>
        </p:txBody>
      </p:sp>
      <p:sp>
        <p:nvSpPr>
          <p:cNvPr id="1111" name="Icon badge 1111"/>
          <p:cNvSpPr/>
          <p:nvPr/>
        </p:nvSpPr>
        <p:spPr>
          <a:xfrm>
            <a:off x="5577840" y="1947672"/>
            <a:ext cx="420624" cy="420624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2" name="Icon cloud 1112"/>
          <p:cNvSpPr/>
          <p:nvPr/>
        </p:nvSpPr>
        <p:spPr>
          <a:xfrm>
            <a:off x="5678790" y="2048622"/>
            <a:ext cx="218724" cy="218724"/>
          </a:xfrm>
          <a:prstGeom prst="cloud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3" name="Text 1113"/>
          <p:cNvSpPr txBox="1"/>
          <p:nvPr/>
        </p:nvSpPr>
        <p:spPr>
          <a:xfrm>
            <a:off x="6153912" y="1920240"/>
            <a:ext cx="23317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Cloud Run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Public app, private agency console and the price-watch job</a:t>
            </a:r>
          </a:p>
        </p:txBody>
      </p:sp>
      <p:sp>
        <p:nvSpPr>
          <p:cNvPr id="1114" name="Icon badge 1114"/>
          <p:cNvSpPr/>
          <p:nvPr/>
        </p:nvSpPr>
        <p:spPr>
          <a:xfrm>
            <a:off x="5577840" y="2880360"/>
            <a:ext cx="420624" cy="420624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5" name="Icon star4 1115"/>
          <p:cNvSpPr/>
          <p:nvPr/>
        </p:nvSpPr>
        <p:spPr>
          <a:xfrm>
            <a:off x="5678790" y="2981310"/>
            <a:ext cx="218724" cy="218724"/>
          </a:xfrm>
          <a:prstGeom prst="star4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6" name="Text 1116"/>
          <p:cNvSpPr txBox="1"/>
          <p:nvPr/>
        </p:nvSpPr>
        <p:spPr>
          <a:xfrm>
            <a:off x="6153912" y="2852928"/>
            <a:ext cx="23317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Gemini on Vertex AI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gemini-3.8-flash drop adviser: structured JSON, validated by the server</a:t>
            </a:r>
          </a:p>
        </p:txBody>
      </p:sp>
      <p:sp>
        <p:nvSpPr>
          <p:cNvPr id="1117" name="Icon badge 1117"/>
          <p:cNvSpPr/>
          <p:nvPr/>
        </p:nvSpPr>
        <p:spPr>
          <a:xfrm>
            <a:off x="5577840" y="3813048"/>
            <a:ext cx="420624" cy="420624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8" name="Icon can 1118"/>
          <p:cNvSpPr/>
          <p:nvPr/>
        </p:nvSpPr>
        <p:spPr>
          <a:xfrm>
            <a:off x="5678790" y="3913998"/>
            <a:ext cx="218724" cy="218724"/>
          </a:xfrm>
          <a:prstGeom prst="can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9" name="Text 1119"/>
          <p:cNvSpPr txBox="1"/>
          <p:nvPr/>
        </p:nvSpPr>
        <p:spPr>
          <a:xfrm>
            <a:off x="6153912" y="3785616"/>
            <a:ext cx="23317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Cloud Firestore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Bookings, drops, Drop Watch consent and sessions, with transactions and TTL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pic>
        <p:nvPicPr>
          <p:cNvPr id="1101" name="RoomDrop logo 1101" descr="RoomDrop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1242" y="640080"/>
            <a:ext cx="1521278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Opportunity card 1102"/>
          <p:cNvSpPr/>
          <p:nvPr/>
        </p:nvSpPr>
        <p:spPr>
          <a:xfrm>
            <a:off x="457200" y="1234440"/>
            <a:ext cx="2606040" cy="274320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3" name="Icon badge 1103"/>
          <p:cNvSpPr/>
          <p:nvPr/>
        </p:nvSpPr>
        <p:spPr>
          <a:xfrm>
            <a:off x="621792" y="1417320"/>
            <a:ext cx="384048" cy="384048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4" name="Icon bolt 1104"/>
          <p:cNvSpPr/>
          <p:nvPr/>
        </p:nvSpPr>
        <p:spPr>
          <a:xfrm>
            <a:off x="713964" y="1509492"/>
            <a:ext cx="199705" cy="199705"/>
          </a:xfrm>
          <a:prstGeom prst="lightningBolt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5" name="Text 1105"/>
          <p:cNvSpPr txBox="1"/>
          <p:nvPr/>
        </p:nvSpPr>
        <p:spPr>
          <a:xfrm>
            <a:off x="1115568" y="1380744"/>
            <a:ext cx="180136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How different is it from any of the other existing ideas?</a:t>
            </a:r>
          </a:p>
        </p:txBody>
      </p:sp>
      <p:sp>
        <p:nvSpPr>
          <p:cNvPr id="1106" name="Text 1106"/>
          <p:cNvSpPr txBox="1"/>
          <p:nvPr/>
        </p:nvSpPr>
        <p:spPr>
          <a:xfrm>
            <a:off x="640080" y="2011680"/>
            <a:ext cx="2258568" cy="1874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 rtl="0">
              <a:spcBef>
                <a:spcPts val="0"/>
              </a:spcBef>
              <a:spcAft>
                <a:spcPts val="600"/>
              </a:spcAft>
              <a:buClr>
                <a:srgbClr val="D95241"/>
              </a:buClr>
              <a:buSzPct val="100000"/>
              <a:buFont typeface="Arial"/>
              <a:buChar char="•"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Alerts only notify; RoomDrop shows a real drop with the saving and the flexibility you give up</a:t>
            </a:r>
          </a:p>
          <a:p>
            <a:pPr marL="146304" indent="-146304" algn="l" rtl="0">
              <a:spcBef>
                <a:spcPts val="0"/>
              </a:spcBef>
              <a:spcAft>
                <a:spcPts val="600"/>
              </a:spcAft>
              <a:buClr>
                <a:srgbClr val="D95241"/>
              </a:buClr>
              <a:buSzPct val="100000"/>
              <a:buFont typeface="Arial"/>
              <a:buChar char="•"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Re-shops the exact stay you booked, no manual cancel-and-rebook</a:t>
            </a:r>
          </a:p>
          <a:p>
            <a:pPr marL="146304" indent="-146304" algn="l" rtl="0">
              <a:spcBef>
                <a:spcPts val="0"/>
              </a:spcBef>
              <a:spcAft>
                <a:spcPts val="600"/>
              </a:spcAft>
              <a:buClr>
                <a:srgbClr val="D95241"/>
              </a:buClr>
              <a:buSzPct val="100000"/>
              <a:buFont typeface="Arial"/>
              <a:buChar char="•"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Runs on the agency's own quotation and supplier feed, not another meta-search</a:t>
            </a:r>
          </a:p>
        </p:txBody>
      </p:sp>
      <p:sp>
        <p:nvSpPr>
          <p:cNvPr id="1107" name="Opportunity card 1107"/>
          <p:cNvSpPr/>
          <p:nvPr/>
        </p:nvSpPr>
        <p:spPr>
          <a:xfrm>
            <a:off x="3268980" y="1234440"/>
            <a:ext cx="2606040" cy="274320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8" name="Icon badge 1108"/>
          <p:cNvSpPr/>
          <p:nvPr/>
        </p:nvSpPr>
        <p:spPr>
          <a:xfrm>
            <a:off x="3433572" y="1417320"/>
            <a:ext cx="384048" cy="384048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9" name="Icon down 1109"/>
          <p:cNvSpPr/>
          <p:nvPr/>
        </p:nvSpPr>
        <p:spPr>
          <a:xfrm>
            <a:off x="3525744" y="1509492"/>
            <a:ext cx="199705" cy="199705"/>
          </a:xfrm>
          <a:prstGeom prst="downArrow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0" name="Text 1110"/>
          <p:cNvSpPr txBox="1"/>
          <p:nvPr/>
        </p:nvSpPr>
        <p:spPr>
          <a:xfrm>
            <a:off x="3927348" y="1380744"/>
            <a:ext cx="180136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How will it be able to solve the problem?</a:t>
            </a:r>
          </a:p>
        </p:txBody>
      </p:sp>
      <p:sp>
        <p:nvSpPr>
          <p:cNvPr id="1111" name="Text 1111"/>
          <p:cNvSpPr txBox="1"/>
          <p:nvPr/>
        </p:nvSpPr>
        <p:spPr>
          <a:xfrm>
            <a:off x="3451860" y="2011680"/>
            <a:ext cx="2258568" cy="1874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 rtl="0">
              <a:spcBef>
                <a:spcPts val="0"/>
              </a:spcBef>
              <a:spcAft>
                <a:spcPts val="600"/>
              </a:spcAft>
              <a:buClr>
                <a:srgbClr val="D95241"/>
              </a:buClr>
              <a:buSzPct val="100000"/>
              <a:buFont typeface="Arial"/>
              <a:buChar char="•"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Starts from your current booking: same hotel, dates and guests</a:t>
            </a:r>
          </a:p>
          <a:p>
            <a:pPr marL="146304" indent="-146304" algn="l" rtl="0">
              <a:spcBef>
                <a:spcPts val="0"/>
              </a:spcBef>
              <a:spcAft>
                <a:spcPts val="600"/>
              </a:spcAft>
              <a:buClr>
                <a:srgbClr val="D95241"/>
              </a:buClr>
              <a:buSzPct val="100000"/>
              <a:buFont typeface="Arial"/>
              <a:buChar char="•"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Ranks three drops by estimated saving and flags non-refundable risk</a:t>
            </a:r>
          </a:p>
          <a:p>
            <a:pPr marL="146304" indent="-146304" algn="l" rtl="0">
              <a:spcBef>
                <a:spcPts val="0"/>
              </a:spcBef>
              <a:spcAft>
                <a:spcPts val="600"/>
              </a:spcAft>
              <a:buClr>
                <a:srgbClr val="D95241"/>
              </a:buClr>
              <a:buSzPct val="100000"/>
              <a:buFont typeface="Arial"/>
              <a:buChar char="•"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answers "should I switch?" using only the facts on screen</a:t>
            </a:r>
          </a:p>
        </p:txBody>
      </p:sp>
      <p:sp>
        <p:nvSpPr>
          <p:cNvPr id="1112" name="Opportunity card 1112"/>
          <p:cNvSpPr/>
          <p:nvPr/>
        </p:nvSpPr>
        <p:spPr>
          <a:xfrm>
            <a:off x="6080760" y="1234440"/>
            <a:ext cx="2606040" cy="274320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3" name="Icon badge 1113"/>
          <p:cNvSpPr/>
          <p:nvPr/>
        </p:nvSpPr>
        <p:spPr>
          <a:xfrm>
            <a:off x="6245352" y="1417320"/>
            <a:ext cx="384048" cy="384048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4" name="Icon star5 1114"/>
          <p:cNvSpPr/>
          <p:nvPr/>
        </p:nvSpPr>
        <p:spPr>
          <a:xfrm>
            <a:off x="6337524" y="1509492"/>
            <a:ext cx="199705" cy="199705"/>
          </a:xfrm>
          <a:prstGeom prst="star5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5" name="Text 1115"/>
          <p:cNvSpPr txBox="1"/>
          <p:nvPr/>
        </p:nvSpPr>
        <p:spPr>
          <a:xfrm>
            <a:off x="6739128" y="1380744"/>
            <a:ext cx="180136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USP of the proposed solution</a:t>
            </a:r>
          </a:p>
        </p:txBody>
      </p:sp>
      <p:sp>
        <p:nvSpPr>
          <p:cNvPr id="1116" name="Text 1116"/>
          <p:cNvSpPr txBox="1"/>
          <p:nvPr/>
        </p:nvSpPr>
        <p:spPr>
          <a:xfrm>
            <a:off x="6263640" y="2011680"/>
            <a:ext cx="2258568" cy="1874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46304" indent="-146304" algn="l" rtl="0">
              <a:spcBef>
                <a:spcPts val="0"/>
              </a:spcBef>
              <a:spcAft>
                <a:spcPts val="600"/>
              </a:spcAft>
              <a:buClr>
                <a:srgbClr val="D95241"/>
              </a:buClr>
              <a:buSzPct val="100000"/>
              <a:buFont typeface="Arial"/>
              <a:buChar char="•"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Book early, never overpay: every saving shown as a stamped drop</a:t>
            </a:r>
          </a:p>
          <a:p>
            <a:pPr marL="146304" indent="-146304" algn="l" rtl="0">
              <a:spcBef>
                <a:spcPts val="0"/>
              </a:spcBef>
              <a:spcAft>
                <a:spcPts val="600"/>
              </a:spcAft>
              <a:buClr>
                <a:srgbClr val="D95241"/>
              </a:buClr>
              <a:buSzPct val="100000"/>
              <a:buFont typeface="Arial"/>
              <a:buChar char="•"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Trustworthy AI: Gemini cannot book, refund or invent prices</a:t>
            </a:r>
          </a:p>
          <a:p>
            <a:pPr marL="146304" indent="-146304" algn="l" rtl="0">
              <a:spcBef>
                <a:spcPts val="0"/>
              </a:spcBef>
              <a:spcAft>
                <a:spcPts val="600"/>
              </a:spcAft>
              <a:buClr>
                <a:srgbClr val="D95241"/>
              </a:buClr>
              <a:buSzPct val="100000"/>
              <a:buFont typeface="Arial"/>
              <a:buChar char="•"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One engine, two markets: traveller savings and agency margin</a:t>
            </a:r>
          </a:p>
        </p:txBody>
      </p:sp>
      <p:sp>
        <p:nvSpPr>
          <p:cNvPr id="1117" name="Market strip 1117"/>
          <p:cNvSpPr/>
          <p:nvPr/>
        </p:nvSpPr>
        <p:spPr>
          <a:xfrm>
            <a:off x="457200" y="4160520"/>
            <a:ext cx="4046220" cy="566928"/>
          </a:xfrm>
          <a:prstGeom prst="roundRect">
            <a:avLst>
              <a:gd name="adj" fmla="val 19354"/>
            </a:avLst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8" name="Pill 1118"/>
          <p:cNvSpPr/>
          <p:nvPr/>
        </p:nvSpPr>
        <p:spPr>
          <a:xfrm>
            <a:off x="594360" y="4315968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D9524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spc="4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B2C</a:t>
            </a:r>
          </a:p>
        </p:txBody>
      </p:sp>
      <p:sp>
        <p:nvSpPr>
          <p:cNvPr id="1119" name="Text 1119"/>
          <p:cNvSpPr txBox="1"/>
          <p:nvPr/>
        </p:nvSpPr>
        <p:spPr>
          <a:xfrm>
            <a:off x="1280160" y="4160520"/>
            <a:ext cx="31546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Travellers lock in early and still catch the drop</a:t>
            </a:r>
          </a:p>
        </p:txBody>
      </p:sp>
      <p:sp>
        <p:nvSpPr>
          <p:cNvPr id="1120" name="Market strip 1120"/>
          <p:cNvSpPr/>
          <p:nvPr/>
        </p:nvSpPr>
        <p:spPr>
          <a:xfrm>
            <a:off x="4640580" y="4160520"/>
            <a:ext cx="4046220" cy="566928"/>
          </a:xfrm>
          <a:prstGeom prst="roundRect">
            <a:avLst>
              <a:gd name="adj" fmla="val 19354"/>
            </a:avLst>
          </a:prstGeom>
          <a:solidFill>
            <a:srgbClr val="EEF1F5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1" name="Pill 1121"/>
          <p:cNvSpPr/>
          <p:nvPr/>
        </p:nvSpPr>
        <p:spPr>
          <a:xfrm>
            <a:off x="4777740" y="4315968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1B2A3A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spc="4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B2B</a:t>
            </a:r>
          </a:p>
        </p:txBody>
      </p:sp>
      <p:sp>
        <p:nvSpPr>
          <p:cNvPr id="1122" name="Text 1122"/>
          <p:cNvSpPr txBox="1"/>
          <p:nvPr/>
        </p:nvSpPr>
        <p:spPr>
          <a:xfrm>
            <a:off x="5463540" y="4160520"/>
            <a:ext cx="31546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Agencies re-shop held bookings to cut cost and raise margin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01" name="RoomDrop logo 1101" descr="RoomDrop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1242" y="640080"/>
            <a:ext cx="1521278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Feature tile 1102"/>
          <p:cNvSpPr/>
          <p:nvPr/>
        </p:nvSpPr>
        <p:spPr>
          <a:xfrm>
            <a:off x="457200" y="1234440"/>
            <a:ext cx="1920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3" name="Icon badge 1103"/>
          <p:cNvSpPr/>
          <p:nvPr/>
        </p:nvSpPr>
        <p:spPr>
          <a:xfrm>
            <a:off x="603504" y="1380744"/>
            <a:ext cx="438912" cy="438912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4" name="Icon docs 1104"/>
          <p:cNvSpPr/>
          <p:nvPr/>
        </p:nvSpPr>
        <p:spPr>
          <a:xfrm>
            <a:off x="708843" y="1486083"/>
            <a:ext cx="228234" cy="228234"/>
          </a:xfrm>
          <a:prstGeom prst="flowChartMultidocument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5" name="Pill 1105"/>
          <p:cNvSpPr/>
          <p:nvPr/>
        </p:nvSpPr>
        <p:spPr>
          <a:xfrm>
            <a:off x="1719072" y="1453896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1B2A3A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spc="4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LIVE</a:t>
            </a:r>
          </a:p>
        </p:txBody>
      </p:sp>
      <p:sp>
        <p:nvSpPr>
          <p:cNvPr id="1106" name="Text 1106"/>
          <p:cNvSpPr txBox="1"/>
          <p:nvPr/>
        </p:nvSpPr>
        <p:spPr>
          <a:xfrm>
            <a:off x="603504" y="194767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Booking + 3 drops</a:t>
            </a:r>
          </a:p>
        </p:txBody>
      </p:sp>
      <p:sp>
        <p:nvSpPr>
          <p:cNvPr id="1107" name="Text 1107"/>
          <p:cNvSpPr txBox="1"/>
          <p:nvPr/>
        </p:nvSpPr>
        <p:spPr>
          <a:xfrm>
            <a:off x="603504" y="22402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Current booking ticket above three ranked drops</a:t>
            </a:r>
          </a:p>
        </p:txBody>
      </p:sp>
      <p:sp>
        <p:nvSpPr>
          <p:cNvPr id="1108" name="Feature tile 1108"/>
          <p:cNvSpPr/>
          <p:nvPr/>
        </p:nvSpPr>
        <p:spPr>
          <a:xfrm>
            <a:off x="2560320" y="1234440"/>
            <a:ext cx="1920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9" name="Icon badge 1109"/>
          <p:cNvSpPr/>
          <p:nvPr/>
        </p:nvSpPr>
        <p:spPr>
          <a:xfrm>
            <a:off x="2706624" y="1380744"/>
            <a:ext cx="438912" cy="438912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0" name="Icon down 1110"/>
          <p:cNvSpPr/>
          <p:nvPr/>
        </p:nvSpPr>
        <p:spPr>
          <a:xfrm>
            <a:off x="2811963" y="1486083"/>
            <a:ext cx="228234" cy="228234"/>
          </a:xfrm>
          <a:prstGeom prst="downArrow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1" name="Pill 1111"/>
          <p:cNvSpPr/>
          <p:nvPr/>
        </p:nvSpPr>
        <p:spPr>
          <a:xfrm>
            <a:off x="3822192" y="1453896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1B2A3A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spc="4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LIVE</a:t>
            </a:r>
          </a:p>
        </p:txBody>
      </p:sp>
      <p:sp>
        <p:nvSpPr>
          <p:cNvPr id="1112" name="Text 1112"/>
          <p:cNvSpPr txBox="1"/>
          <p:nvPr/>
        </p:nvSpPr>
        <p:spPr>
          <a:xfrm>
            <a:off x="2706624" y="194767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Saving stamps</a:t>
            </a:r>
          </a:p>
        </p:txBody>
      </p:sp>
      <p:sp>
        <p:nvSpPr>
          <p:cNvPr id="1113" name="Text 1113"/>
          <p:cNvSpPr txBox="1"/>
          <p:nvPr/>
        </p:nvSpPr>
        <p:spPr>
          <a:xfrm>
            <a:off x="2706624" y="22402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Estimated drop per stay, with cancellation and refund warnings</a:t>
            </a:r>
          </a:p>
        </p:txBody>
      </p:sp>
      <p:sp>
        <p:nvSpPr>
          <p:cNvPr id="1114" name="Feature tile 1114"/>
          <p:cNvSpPr/>
          <p:nvPr/>
        </p:nvSpPr>
        <p:spPr>
          <a:xfrm>
            <a:off x="4663440" y="1234440"/>
            <a:ext cx="1920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5" name="Icon badge 1115"/>
          <p:cNvSpPr/>
          <p:nvPr/>
        </p:nvSpPr>
        <p:spPr>
          <a:xfrm>
            <a:off x="4809744" y="1380744"/>
            <a:ext cx="438912" cy="438912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6" name="Icon doc 1116"/>
          <p:cNvSpPr/>
          <p:nvPr/>
        </p:nvSpPr>
        <p:spPr>
          <a:xfrm>
            <a:off x="4915083" y="1486083"/>
            <a:ext cx="228234" cy="228234"/>
          </a:xfrm>
          <a:prstGeom prst="flowChartDocument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7" name="Pill 1117"/>
          <p:cNvSpPr/>
          <p:nvPr/>
        </p:nvSpPr>
        <p:spPr>
          <a:xfrm>
            <a:off x="5925312" y="1453896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1B2A3A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spc="4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LIVE</a:t>
            </a:r>
          </a:p>
        </p:txBody>
      </p:sp>
      <p:sp>
        <p:nvSpPr>
          <p:cNvPr id="1118" name="Text 1118"/>
          <p:cNvSpPr txBox="1"/>
          <p:nvPr/>
        </p:nvSpPr>
        <p:spPr>
          <a:xfrm>
            <a:off x="4809744" y="194767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Peek at a drop</a:t>
            </a:r>
          </a:p>
        </p:txBody>
      </p:sp>
      <p:sp>
        <p:nvSpPr>
          <p:cNvPr id="1119" name="Text 1119"/>
          <p:cNvSpPr txBox="1"/>
          <p:nvPr/>
        </p:nvSpPr>
        <p:spPr>
          <a:xfrm>
            <a:off x="4809744" y="22402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Price breakdown, room, board and cancellation flag</a:t>
            </a:r>
          </a:p>
        </p:txBody>
      </p:sp>
      <p:sp>
        <p:nvSpPr>
          <p:cNvPr id="1120" name="Feature tile 1120"/>
          <p:cNvSpPr/>
          <p:nvPr/>
        </p:nvSpPr>
        <p:spPr>
          <a:xfrm>
            <a:off x="6766560" y="1234440"/>
            <a:ext cx="1920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1" name="Icon badge 1121"/>
          <p:cNvSpPr/>
          <p:nvPr/>
        </p:nvSpPr>
        <p:spPr>
          <a:xfrm>
            <a:off x="6912864" y="1380744"/>
            <a:ext cx="438912" cy="438912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2" name="Icon star4 1122"/>
          <p:cNvSpPr/>
          <p:nvPr/>
        </p:nvSpPr>
        <p:spPr>
          <a:xfrm>
            <a:off x="7018203" y="1486083"/>
            <a:ext cx="228234" cy="228234"/>
          </a:xfrm>
          <a:prstGeom prst="star4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3" name="Pill 1123"/>
          <p:cNvSpPr/>
          <p:nvPr/>
        </p:nvSpPr>
        <p:spPr>
          <a:xfrm>
            <a:off x="8028432" y="1453896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1B2A3A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spc="4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LIVE</a:t>
            </a:r>
          </a:p>
        </p:txBody>
      </p:sp>
      <p:sp>
        <p:nvSpPr>
          <p:cNvPr id="1124" name="Text 1124"/>
          <p:cNvSpPr txBox="1"/>
          <p:nvPr/>
        </p:nvSpPr>
        <p:spPr>
          <a:xfrm>
            <a:off x="6912864" y="194767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Ask Gemini</a:t>
            </a:r>
          </a:p>
        </p:txBody>
      </p:sp>
      <p:sp>
        <p:nvSpPr>
          <p:cNvPr id="1125" name="Text 1125"/>
          <p:cNvSpPr txBox="1"/>
          <p:nvPr/>
        </p:nvSpPr>
        <p:spPr>
          <a:xfrm>
            <a:off x="6912864" y="22402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Compare all drops or ask about one, in plain language</a:t>
            </a:r>
          </a:p>
        </p:txBody>
      </p:sp>
      <p:sp>
        <p:nvSpPr>
          <p:cNvPr id="1126" name="Feature tile 1126"/>
          <p:cNvSpPr/>
          <p:nvPr/>
        </p:nvSpPr>
        <p:spPr>
          <a:xfrm>
            <a:off x="457200" y="3108960"/>
            <a:ext cx="1920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7" name="Icon badge 1127"/>
          <p:cNvSpPr/>
          <p:nvPr/>
        </p:nvSpPr>
        <p:spPr>
          <a:xfrm>
            <a:off x="603504" y="3255264"/>
            <a:ext cx="438912" cy="438912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8" name="Icon shield 1128"/>
          <p:cNvSpPr/>
          <p:nvPr/>
        </p:nvSpPr>
        <p:spPr>
          <a:xfrm>
            <a:off x="708843" y="3360603"/>
            <a:ext cx="228234" cy="228234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lnTo>
                  <a:pt x="94" y="16"/>
                </a:lnTo>
                <a:lnTo>
                  <a:pt x="94" y="48"/>
                </a:lnTo>
                <a:cubicBezTo>
                  <a:pt x="94" y="74"/>
                  <a:pt x="76" y="92"/>
                  <a:pt x="50" y="100"/>
                </a:cubicBezTo>
                <a:cubicBezTo>
                  <a:pt x="24" y="92"/>
                  <a:pt x="6" y="74"/>
                  <a:pt x="6" y="48"/>
                </a:cubicBezTo>
                <a:lnTo>
                  <a:pt x="6" y="16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9" name="Pill 1129"/>
          <p:cNvSpPr/>
          <p:nvPr/>
        </p:nvSpPr>
        <p:spPr>
          <a:xfrm>
            <a:off x="1719072" y="3328416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1B2A3A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spc="4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LIVE</a:t>
            </a:r>
          </a:p>
        </p:txBody>
      </p:sp>
      <p:sp>
        <p:nvSpPr>
          <p:cNvPr id="1130" name="Text 1130"/>
          <p:cNvSpPr txBox="1"/>
          <p:nvPr/>
        </p:nvSpPr>
        <p:spPr>
          <a:xfrm>
            <a:off x="603504" y="382219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Grounded AI</a:t>
            </a:r>
          </a:p>
        </p:txBody>
      </p:sp>
      <p:sp>
        <p:nvSpPr>
          <p:cNvPr id="1131" name="Text 1131"/>
          <p:cNvSpPr txBox="1"/>
          <p:nvPr/>
        </p:nvSpPr>
        <p:spPr>
          <a:xfrm>
            <a:off x="603504" y="41148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Replies validate in facts of the booking and the suggested drops</a:t>
            </a:r>
          </a:p>
        </p:txBody>
      </p:sp>
      <p:sp>
        <p:nvSpPr>
          <p:cNvPr id="1132" name="Feature tile 1132"/>
          <p:cNvSpPr/>
          <p:nvPr/>
        </p:nvSpPr>
        <p:spPr>
          <a:xfrm>
            <a:off x="2560320" y="3108960"/>
            <a:ext cx="1920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3" name="Icon badge 1133"/>
          <p:cNvSpPr/>
          <p:nvPr/>
        </p:nvSpPr>
        <p:spPr>
          <a:xfrm>
            <a:off x="2706624" y="3255264"/>
            <a:ext cx="438912" cy="438912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4" name="Icon check 1134"/>
          <p:cNvSpPr/>
          <p:nvPr/>
        </p:nvSpPr>
        <p:spPr>
          <a:xfrm>
            <a:off x="2811963" y="3360603"/>
            <a:ext cx="228234" cy="228234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8" y="52"/>
                </a:moveTo>
                <a:lnTo>
                  <a:pt x="22" y="38"/>
                </a:lnTo>
                <a:lnTo>
                  <a:pt x="40" y="56"/>
                </a:lnTo>
                <a:lnTo>
                  <a:pt x="78" y="18"/>
                </a:lnTo>
                <a:lnTo>
                  <a:pt x="92" y="32"/>
                </a:lnTo>
                <a:lnTo>
                  <a:pt x="40" y="84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5" name="Pill 1135"/>
          <p:cNvSpPr/>
          <p:nvPr/>
        </p:nvSpPr>
        <p:spPr>
          <a:xfrm>
            <a:off x="3822192" y="3328416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1B2A3A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spc="4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LIVE</a:t>
            </a:r>
          </a:p>
        </p:txBody>
      </p:sp>
      <p:sp>
        <p:nvSpPr>
          <p:cNvPr id="1136" name="Text 1136"/>
          <p:cNvSpPr txBox="1"/>
          <p:nvPr/>
        </p:nvSpPr>
        <p:spPr>
          <a:xfrm>
            <a:off x="2706624" y="382219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Consent + receipt</a:t>
            </a:r>
          </a:p>
        </p:txBody>
      </p:sp>
      <p:sp>
        <p:nvSpPr>
          <p:cNvPr id="1137" name="Text 1137"/>
          <p:cNvSpPr txBox="1"/>
          <p:nvPr/>
        </p:nvSpPr>
        <p:spPr>
          <a:xfrm>
            <a:off x="2706624" y="41148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Explicit tick for lost flexibility, then a selection-only receipt</a:t>
            </a:r>
          </a:p>
        </p:txBody>
      </p:sp>
      <p:sp>
        <p:nvSpPr>
          <p:cNvPr id="1138" name="Feature tile 1138"/>
          <p:cNvSpPr/>
          <p:nvPr/>
        </p:nvSpPr>
        <p:spPr>
          <a:xfrm>
            <a:off x="4663440" y="3108960"/>
            <a:ext cx="1920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9" name="Icon badge 1139"/>
          <p:cNvSpPr/>
          <p:nvPr/>
        </p:nvSpPr>
        <p:spPr>
          <a:xfrm>
            <a:off x="4809744" y="3255264"/>
            <a:ext cx="438912" cy="438912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0" name="Icon case 1140"/>
          <p:cNvSpPr/>
          <p:nvPr/>
        </p:nvSpPr>
        <p:spPr>
          <a:xfrm>
            <a:off x="4915083" y="3360603"/>
            <a:ext cx="228234" cy="228234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4" y="30"/>
                </a:moveTo>
                <a:lnTo>
                  <a:pt x="96" y="30"/>
                </a:lnTo>
                <a:lnTo>
                  <a:pt x="96" y="92"/>
                </a:lnTo>
                <a:lnTo>
                  <a:pt x="4" y="92"/>
                </a:lnTo>
                <a:close/>
              </a:path>
              <a:path w="100" h="100">
                <a:moveTo>
                  <a:pt x="34" y="30"/>
                </a:moveTo>
                <a:lnTo>
                  <a:pt x="34" y="12"/>
                </a:lnTo>
                <a:lnTo>
                  <a:pt x="66" y="12"/>
                </a:lnTo>
                <a:lnTo>
                  <a:pt x="66" y="30"/>
                </a:lnTo>
                <a:lnTo>
                  <a:pt x="57" y="30"/>
                </a:lnTo>
                <a:lnTo>
                  <a:pt x="57" y="21"/>
                </a:lnTo>
                <a:lnTo>
                  <a:pt x="43" y="21"/>
                </a:lnTo>
                <a:lnTo>
                  <a:pt x="43" y="30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1" name="Pill 1141"/>
          <p:cNvSpPr/>
          <p:nvPr/>
        </p:nvSpPr>
        <p:spPr>
          <a:xfrm>
            <a:off x="5819973" y="3328416"/>
            <a:ext cx="617403" cy="222501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spc="4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SOON</a:t>
            </a:r>
          </a:p>
        </p:txBody>
      </p:sp>
      <p:sp>
        <p:nvSpPr>
          <p:cNvPr id="1142" name="Text 1142"/>
          <p:cNvSpPr txBox="1"/>
          <p:nvPr/>
        </p:nvSpPr>
        <p:spPr>
          <a:xfrm>
            <a:off x="4809744" y="382219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Agency console</a:t>
            </a:r>
          </a:p>
        </p:txBody>
      </p:sp>
      <p:sp>
        <p:nvSpPr>
          <p:cNvPr id="1143" name="Text 1143"/>
          <p:cNvSpPr txBox="1"/>
          <p:nvPr/>
        </p:nvSpPr>
        <p:spPr>
          <a:xfrm>
            <a:off x="4809744" y="41148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Private, read-only cases behind Google IAP</a:t>
            </a:r>
          </a:p>
        </p:txBody>
      </p:sp>
      <p:sp>
        <p:nvSpPr>
          <p:cNvPr id="1144" name="Feature tile 1144"/>
          <p:cNvSpPr/>
          <p:nvPr/>
        </p:nvSpPr>
        <p:spPr>
          <a:xfrm>
            <a:off x="6766560" y="3108960"/>
            <a:ext cx="1920240" cy="1691640"/>
          </a:xfrm>
          <a:prstGeom prst="roundRect">
            <a:avLst>
              <a:gd name="adj" fmla="val 6486"/>
            </a:avLst>
          </a:prstGeom>
          <a:solidFill>
            <a:srgbClr val="FEFBF5"/>
          </a:solidFill>
          <a:ln w="9525">
            <a:solidFill>
              <a:srgbClr val="D95241"/>
            </a:solidFill>
            <a:prstDash val="dash"/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5" name="Icon badge 1145"/>
          <p:cNvSpPr/>
          <p:nvPr/>
        </p:nvSpPr>
        <p:spPr>
          <a:xfrm>
            <a:off x="6912864" y="3255264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6" name="Icon cycle 1146"/>
          <p:cNvSpPr/>
          <p:nvPr/>
        </p:nvSpPr>
        <p:spPr>
          <a:xfrm>
            <a:off x="7018203" y="3360603"/>
            <a:ext cx="228234" cy="228234"/>
          </a:xfrm>
          <a:prstGeom prst="circularArrow">
            <a:avLst>
              <a:gd name="adj1" fmla="val 16000"/>
              <a:gd name="adj2" fmla="val 1800000"/>
              <a:gd name="adj3" fmla="val 20000000"/>
              <a:gd name="adj4" fmla="val 5400000"/>
              <a:gd name="adj5" fmla="val 22000"/>
            </a:avLst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7" name="Pill 1147"/>
          <p:cNvSpPr/>
          <p:nvPr/>
        </p:nvSpPr>
        <p:spPr>
          <a:xfrm>
            <a:off x="8028432" y="3328416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5241"/>
            </a:solidFill>
            <a:round/>
          </a:ln>
        </p:spPr>
        <p:txBody>
          <a:bodyPr wrap="square" lIns="36576" tIns="0" rIns="36576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spc="4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NEXT</a:t>
            </a:r>
          </a:p>
        </p:txBody>
      </p:sp>
      <p:sp>
        <p:nvSpPr>
          <p:cNvPr id="1148" name="Text 1148"/>
          <p:cNvSpPr txBox="1"/>
          <p:nvPr/>
        </p:nvSpPr>
        <p:spPr>
          <a:xfrm>
            <a:off x="6912864" y="382219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Drop Watch</a:t>
            </a:r>
          </a:p>
        </p:txBody>
      </p:sp>
      <p:sp>
        <p:nvSpPr>
          <p:cNvPr id="1149" name="Text 1149"/>
          <p:cNvSpPr txBox="1"/>
          <p:nvPr/>
        </p:nvSpPr>
        <p:spPr>
          <a:xfrm>
            <a:off x="6912864" y="41148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Consent, minimum saving and scheduled re-checks with alerts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01" name="RoomDrop logo 1101" descr="RoomDrop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1242" y="640080"/>
            <a:ext cx="1521278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Traveller lane 1102"/>
          <p:cNvSpPr/>
          <p:nvPr/>
        </p:nvSpPr>
        <p:spPr>
          <a:xfrm>
            <a:off x="457200" y="1188720"/>
            <a:ext cx="8229600" cy="1828800"/>
          </a:xfrm>
          <a:prstGeom prst="roundRect">
            <a:avLst>
              <a:gd name="adj" fmla="val 7000"/>
            </a:avLst>
          </a:prstGeom>
          <a:solidFill>
            <a:srgbClr val="FEFBF5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3" name="Text 1103"/>
          <p:cNvSpPr txBox="1"/>
          <p:nvPr/>
        </p:nvSpPr>
        <p:spPr>
          <a:xfrm>
            <a:off x="621792" y="12618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Traveller journey</a:t>
            </a: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  B2C, live today</a:t>
            </a:r>
          </a:p>
        </p:txBody>
      </p:sp>
      <p:sp>
        <p:nvSpPr>
          <p:cNvPr id="1104" name="Step 1104"/>
          <p:cNvSpPr/>
          <p:nvPr/>
        </p:nvSpPr>
        <p:spPr>
          <a:xfrm>
            <a:off x="594360" y="1600200"/>
            <a:ext cx="1143000" cy="1298448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05" name="Step number 1105"/>
          <p:cNvSpPr/>
          <p:nvPr/>
        </p:nvSpPr>
        <p:spPr>
          <a:xfrm>
            <a:off x="685800" y="1691640"/>
            <a:ext cx="274320" cy="274320"/>
          </a:xfrm>
          <a:prstGeom prst="ellipse">
            <a:avLst/>
          </a:prstGeom>
          <a:solidFill>
            <a:srgbClr val="D9524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</a:t>
            </a:r>
          </a:p>
        </p:txBody>
      </p:sp>
      <p:sp>
        <p:nvSpPr>
          <p:cNvPr id="1106" name="Text 1106"/>
          <p:cNvSpPr txBox="1"/>
          <p:nvPr/>
        </p:nvSpPr>
        <p:spPr>
          <a:xfrm>
            <a:off x="685800" y="2020824"/>
            <a:ext cx="9966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Your booking</a:t>
            </a:r>
          </a:p>
        </p:txBody>
      </p:sp>
      <p:sp>
        <p:nvSpPr>
          <p:cNvPr id="1107" name="Text 1107"/>
          <p:cNvSpPr txBox="1"/>
          <p:nvPr/>
        </p:nvSpPr>
        <p:spPr>
          <a:xfrm>
            <a:off x="685800" y="2313432"/>
            <a:ext cx="9966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Hotel, dates, guests and price</a:t>
            </a:r>
          </a:p>
        </p:txBody>
      </p:sp>
      <p:cxnSp>
        <p:nvCxnSpPr>
          <p:cNvPr id="1108" name="Arrow 1108"/>
          <p:cNvCxnSpPr/>
          <p:nvPr/>
        </p:nvCxnSpPr>
        <p:spPr>
          <a:xfrm>
            <a:off x="1764792" y="2249424"/>
            <a:ext cx="164592" cy="0"/>
          </a:xfrm>
          <a:prstGeom prst="straightConnector1">
            <a:avLst/>
          </a:prstGeom>
          <a:ln w="19050">
            <a:solidFill>
              <a:srgbClr val="D95241"/>
            </a:solidFill>
            <a:round/>
            <a:tailEnd type="triangle" w="med" len="med"/>
          </a:ln>
        </p:spPr>
      </p:cxnSp>
      <p:sp>
        <p:nvSpPr>
          <p:cNvPr id="1109" name="Step 1109"/>
          <p:cNvSpPr/>
          <p:nvPr/>
        </p:nvSpPr>
        <p:spPr>
          <a:xfrm>
            <a:off x="1956816" y="1600200"/>
            <a:ext cx="1143000" cy="1298448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0" name="Step number 1110"/>
          <p:cNvSpPr/>
          <p:nvPr/>
        </p:nvSpPr>
        <p:spPr>
          <a:xfrm>
            <a:off x="2048256" y="1691640"/>
            <a:ext cx="274320" cy="274320"/>
          </a:xfrm>
          <a:prstGeom prst="ellipse">
            <a:avLst/>
          </a:prstGeom>
          <a:solidFill>
            <a:srgbClr val="D9524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2</a:t>
            </a:r>
          </a:p>
        </p:txBody>
      </p:sp>
      <p:sp>
        <p:nvSpPr>
          <p:cNvPr id="1111" name="Text 1111"/>
          <p:cNvSpPr txBox="1"/>
          <p:nvPr/>
        </p:nvSpPr>
        <p:spPr>
          <a:xfrm>
            <a:off x="2048256" y="2020824"/>
            <a:ext cx="9966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Find drops</a:t>
            </a:r>
          </a:p>
        </p:txBody>
      </p:sp>
      <p:sp>
        <p:nvSpPr>
          <p:cNvPr id="1112" name="Text 1112"/>
          <p:cNvSpPr txBox="1"/>
          <p:nvPr/>
        </p:nvSpPr>
        <p:spPr>
          <a:xfrm>
            <a:off x="2048256" y="2313432"/>
            <a:ext cx="9966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 ranked drops with saving stamps</a:t>
            </a:r>
          </a:p>
        </p:txBody>
      </p:sp>
      <p:cxnSp>
        <p:nvCxnSpPr>
          <p:cNvPr id="1113" name="Arrow 1113"/>
          <p:cNvCxnSpPr/>
          <p:nvPr/>
        </p:nvCxnSpPr>
        <p:spPr>
          <a:xfrm>
            <a:off x="3127248" y="2249424"/>
            <a:ext cx="164592" cy="0"/>
          </a:xfrm>
          <a:prstGeom prst="straightConnector1">
            <a:avLst/>
          </a:prstGeom>
          <a:ln w="19050">
            <a:solidFill>
              <a:srgbClr val="D95241"/>
            </a:solidFill>
            <a:round/>
            <a:tailEnd type="triangle" w="med" len="med"/>
          </a:ln>
        </p:spPr>
      </p:cxnSp>
      <p:sp>
        <p:nvSpPr>
          <p:cNvPr id="1114" name="Step 1114"/>
          <p:cNvSpPr/>
          <p:nvPr/>
        </p:nvSpPr>
        <p:spPr>
          <a:xfrm>
            <a:off x="3319272" y="1600200"/>
            <a:ext cx="1143000" cy="1298448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5" name="Step number 1115"/>
          <p:cNvSpPr/>
          <p:nvPr/>
        </p:nvSpPr>
        <p:spPr>
          <a:xfrm>
            <a:off x="3410712" y="1691640"/>
            <a:ext cx="274320" cy="274320"/>
          </a:xfrm>
          <a:prstGeom prst="ellipse">
            <a:avLst/>
          </a:prstGeom>
          <a:solidFill>
            <a:srgbClr val="D9524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</a:t>
            </a:r>
          </a:p>
        </p:txBody>
      </p:sp>
      <p:sp>
        <p:nvSpPr>
          <p:cNvPr id="1116" name="Text 1116"/>
          <p:cNvSpPr txBox="1"/>
          <p:nvPr/>
        </p:nvSpPr>
        <p:spPr>
          <a:xfrm>
            <a:off x="3410712" y="2020824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Peek at a drop</a:t>
            </a:r>
          </a:p>
        </p:txBody>
      </p:sp>
      <p:sp>
        <p:nvSpPr>
          <p:cNvPr id="1117" name="Text 1117"/>
          <p:cNvSpPr txBox="1"/>
          <p:nvPr/>
        </p:nvSpPr>
        <p:spPr>
          <a:xfrm>
            <a:off x="3410712" y="2313432"/>
            <a:ext cx="9966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Price breakdown and room facts</a:t>
            </a:r>
          </a:p>
        </p:txBody>
      </p:sp>
      <p:cxnSp>
        <p:nvCxnSpPr>
          <p:cNvPr id="1118" name="Arrow 1118"/>
          <p:cNvCxnSpPr/>
          <p:nvPr/>
        </p:nvCxnSpPr>
        <p:spPr>
          <a:xfrm>
            <a:off x="4489704" y="2249424"/>
            <a:ext cx="164592" cy="0"/>
          </a:xfrm>
          <a:prstGeom prst="straightConnector1">
            <a:avLst/>
          </a:prstGeom>
          <a:ln w="19050">
            <a:solidFill>
              <a:srgbClr val="D95241"/>
            </a:solidFill>
            <a:round/>
            <a:tailEnd type="triangle" w="med" len="med"/>
          </a:ln>
        </p:spPr>
      </p:cxnSp>
      <p:sp>
        <p:nvSpPr>
          <p:cNvPr id="1119" name="Step 1119"/>
          <p:cNvSpPr/>
          <p:nvPr/>
        </p:nvSpPr>
        <p:spPr>
          <a:xfrm>
            <a:off x="4681728" y="1600200"/>
            <a:ext cx="1143000" cy="1298448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9050">
            <a:solidFill>
              <a:srgbClr val="D95241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0" name="Gemini sparkle 1120"/>
          <p:cNvSpPr/>
          <p:nvPr/>
        </p:nvSpPr>
        <p:spPr>
          <a:xfrm>
            <a:off x="4773168" y="1691640"/>
            <a:ext cx="274320" cy="274320"/>
          </a:xfrm>
          <a:prstGeom prst="star4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1" name="Text 1121"/>
          <p:cNvSpPr txBox="1"/>
          <p:nvPr/>
        </p:nvSpPr>
        <p:spPr>
          <a:xfrm>
            <a:off x="4773168" y="2020824"/>
            <a:ext cx="9966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Ask Gemini</a:t>
            </a:r>
          </a:p>
        </p:txBody>
      </p:sp>
      <p:sp>
        <p:nvSpPr>
          <p:cNvPr id="1122" name="Text 1122"/>
          <p:cNvSpPr txBox="1"/>
          <p:nvPr/>
        </p:nvSpPr>
        <p:spPr>
          <a:xfrm>
            <a:off x="4773168" y="2313432"/>
            <a:ext cx="9966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Grounded advice: price vs flexibility</a:t>
            </a:r>
          </a:p>
        </p:txBody>
      </p:sp>
      <p:cxnSp>
        <p:nvCxnSpPr>
          <p:cNvPr id="1123" name="Arrow 1123"/>
          <p:cNvCxnSpPr/>
          <p:nvPr/>
        </p:nvCxnSpPr>
        <p:spPr>
          <a:xfrm>
            <a:off x="5852160" y="2249424"/>
            <a:ext cx="164592" cy="0"/>
          </a:xfrm>
          <a:prstGeom prst="straightConnector1">
            <a:avLst/>
          </a:prstGeom>
          <a:ln w="19050">
            <a:solidFill>
              <a:srgbClr val="D95241"/>
            </a:solidFill>
            <a:round/>
            <a:tailEnd type="triangle" w="med" len="med"/>
          </a:ln>
        </p:spPr>
      </p:cxnSp>
      <p:sp>
        <p:nvSpPr>
          <p:cNvPr id="1124" name="Step 1124"/>
          <p:cNvSpPr/>
          <p:nvPr/>
        </p:nvSpPr>
        <p:spPr>
          <a:xfrm>
            <a:off x="6044184" y="1600200"/>
            <a:ext cx="1143000" cy="1298448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5" name="Step number 1125"/>
          <p:cNvSpPr/>
          <p:nvPr/>
        </p:nvSpPr>
        <p:spPr>
          <a:xfrm>
            <a:off x="6135624" y="1691640"/>
            <a:ext cx="274320" cy="274320"/>
          </a:xfrm>
          <a:prstGeom prst="ellipse">
            <a:avLst/>
          </a:prstGeom>
          <a:solidFill>
            <a:srgbClr val="D9524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5</a:t>
            </a:r>
          </a:p>
        </p:txBody>
      </p:sp>
      <p:sp>
        <p:nvSpPr>
          <p:cNvPr id="1126" name="Text 1126"/>
          <p:cNvSpPr txBox="1"/>
          <p:nvPr/>
        </p:nvSpPr>
        <p:spPr>
          <a:xfrm>
            <a:off x="6135624" y="2020824"/>
            <a:ext cx="9966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Review</a:t>
            </a:r>
          </a:p>
        </p:txBody>
      </p:sp>
      <p:sp>
        <p:nvSpPr>
          <p:cNvPr id="1127" name="Text 1127"/>
          <p:cNvSpPr txBox="1"/>
          <p:nvPr/>
        </p:nvSpPr>
        <p:spPr>
          <a:xfrm>
            <a:off x="6135624" y="2313432"/>
            <a:ext cx="9966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Tick any lost flexibility</a:t>
            </a:r>
          </a:p>
        </p:txBody>
      </p:sp>
      <p:cxnSp>
        <p:nvCxnSpPr>
          <p:cNvPr id="1128" name="Arrow 1128"/>
          <p:cNvCxnSpPr/>
          <p:nvPr/>
        </p:nvCxnSpPr>
        <p:spPr>
          <a:xfrm>
            <a:off x="7214616" y="2249424"/>
            <a:ext cx="164592" cy="0"/>
          </a:xfrm>
          <a:prstGeom prst="straightConnector1">
            <a:avLst/>
          </a:prstGeom>
          <a:ln w="19050">
            <a:solidFill>
              <a:srgbClr val="D95241"/>
            </a:solidFill>
            <a:round/>
            <a:tailEnd type="triangle" w="med" len="med"/>
          </a:ln>
        </p:spPr>
      </p:cxnSp>
      <p:sp>
        <p:nvSpPr>
          <p:cNvPr id="1129" name="Step 1129"/>
          <p:cNvSpPr/>
          <p:nvPr/>
        </p:nvSpPr>
        <p:spPr>
          <a:xfrm>
            <a:off x="7406640" y="1600200"/>
            <a:ext cx="1143000" cy="1298448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0" name="Step number 1130"/>
          <p:cNvSpPr/>
          <p:nvPr/>
        </p:nvSpPr>
        <p:spPr>
          <a:xfrm>
            <a:off x="7498080" y="1691640"/>
            <a:ext cx="274320" cy="274320"/>
          </a:xfrm>
          <a:prstGeom prst="ellipse">
            <a:avLst/>
          </a:prstGeom>
          <a:solidFill>
            <a:srgbClr val="D9524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6</a:t>
            </a:r>
          </a:p>
        </p:txBody>
      </p:sp>
      <p:sp>
        <p:nvSpPr>
          <p:cNvPr id="1131" name="Text 1131"/>
          <p:cNvSpPr txBox="1"/>
          <p:nvPr/>
        </p:nvSpPr>
        <p:spPr>
          <a:xfrm>
            <a:off x="7498080" y="2020824"/>
            <a:ext cx="9966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Confirm</a:t>
            </a:r>
          </a:p>
        </p:txBody>
      </p:sp>
      <p:sp>
        <p:nvSpPr>
          <p:cNvPr id="1132" name="Text 1132"/>
          <p:cNvSpPr txBox="1"/>
          <p:nvPr/>
        </p:nvSpPr>
        <p:spPr>
          <a:xfrm>
            <a:off x="7498080" y="2313432"/>
            <a:ext cx="9966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Receipt with the estimated drop</a:t>
            </a:r>
          </a:p>
        </p:txBody>
      </p:sp>
      <p:sp>
        <p:nvSpPr>
          <p:cNvPr id="1133" name="Agency lane 1133"/>
          <p:cNvSpPr/>
          <p:nvPr/>
        </p:nvSpPr>
        <p:spPr>
          <a:xfrm>
            <a:off x="457200" y="3154680"/>
            <a:ext cx="8229600" cy="1691640"/>
          </a:xfrm>
          <a:prstGeom prst="roundRect">
            <a:avLst>
              <a:gd name="adj" fmla="val 7567"/>
            </a:avLst>
          </a:prstGeom>
          <a:solidFill>
            <a:srgbClr val="EEF1F5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4" name="Text 1134"/>
          <p:cNvSpPr txBox="1"/>
          <p:nvPr/>
        </p:nvSpPr>
        <p:spPr>
          <a:xfrm>
            <a:off x="621792" y="322783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Agency use</a:t>
            </a:r>
            <a:r>
              <a:rPr lang="en-GB" sz="1100" dirty="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 FUTURE  B2B, same engine</a:t>
            </a:r>
          </a:p>
        </p:txBody>
      </p:sp>
      <p:sp>
        <p:nvSpPr>
          <p:cNvPr id="1135" name="Agency step 1135"/>
          <p:cNvSpPr/>
          <p:nvPr/>
        </p:nvSpPr>
        <p:spPr>
          <a:xfrm>
            <a:off x="594360" y="3566160"/>
            <a:ext cx="13716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6" name="Text 1136"/>
          <p:cNvSpPr txBox="1"/>
          <p:nvPr/>
        </p:nvSpPr>
        <p:spPr>
          <a:xfrm>
            <a:off x="704088" y="36758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Share booking</a:t>
            </a:r>
          </a:p>
        </p:txBody>
      </p:sp>
      <p:sp>
        <p:nvSpPr>
          <p:cNvPr id="1137" name="Text 1137"/>
          <p:cNvSpPr txBox="1"/>
          <p:nvPr/>
        </p:nvSpPr>
        <p:spPr>
          <a:xfrm>
            <a:off x="704088" y="3986784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Agent sends an Altovo booking link</a:t>
            </a:r>
          </a:p>
        </p:txBody>
      </p:sp>
      <p:cxnSp>
        <p:nvCxnSpPr>
          <p:cNvPr id="1138" name="Arrow 1138"/>
          <p:cNvCxnSpPr/>
          <p:nvPr/>
        </p:nvCxnSpPr>
        <p:spPr>
          <a:xfrm>
            <a:off x="1993392" y="4137660"/>
            <a:ext cx="219456" cy="0"/>
          </a:xfrm>
          <a:prstGeom prst="straightConnector1">
            <a:avLst/>
          </a:prstGeom>
          <a:ln w="19050">
            <a:solidFill>
              <a:srgbClr val="1B2A3A"/>
            </a:solidFill>
            <a:round/>
            <a:tailEnd type="triangle" w="med" len="med"/>
          </a:ln>
        </p:spPr>
      </p:cxnSp>
      <p:sp>
        <p:nvSpPr>
          <p:cNvPr id="1139" name="Agency step 1139"/>
          <p:cNvSpPr/>
          <p:nvPr/>
        </p:nvSpPr>
        <p:spPr>
          <a:xfrm>
            <a:off x="2240280" y="3566160"/>
            <a:ext cx="13716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0" name="Text 1140"/>
          <p:cNvSpPr txBox="1"/>
          <p:nvPr/>
        </p:nvSpPr>
        <p:spPr>
          <a:xfrm>
            <a:off x="2350008" y="36758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Re-shop the stay</a:t>
            </a:r>
          </a:p>
        </p:txBody>
      </p:sp>
      <p:sp>
        <p:nvSpPr>
          <p:cNvPr id="1141" name="Text 1141"/>
          <p:cNvSpPr txBox="1"/>
          <p:nvPr/>
        </p:nvSpPr>
        <p:spPr>
          <a:xfrm>
            <a:off x="2350008" y="3986784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Supplier gateway, same hotel and dates</a:t>
            </a:r>
          </a:p>
        </p:txBody>
      </p:sp>
      <p:cxnSp>
        <p:nvCxnSpPr>
          <p:cNvPr id="1142" name="Arrow 1142"/>
          <p:cNvCxnSpPr/>
          <p:nvPr/>
        </p:nvCxnSpPr>
        <p:spPr>
          <a:xfrm>
            <a:off x="3639312" y="4137660"/>
            <a:ext cx="219456" cy="0"/>
          </a:xfrm>
          <a:prstGeom prst="straightConnector1">
            <a:avLst/>
          </a:prstGeom>
          <a:ln w="19050">
            <a:solidFill>
              <a:srgbClr val="1B2A3A"/>
            </a:solidFill>
            <a:round/>
            <a:tailEnd type="triangle" w="med" len="med"/>
          </a:ln>
        </p:spPr>
      </p:cxnSp>
      <p:sp>
        <p:nvSpPr>
          <p:cNvPr id="1143" name="Agency step 1143"/>
          <p:cNvSpPr/>
          <p:nvPr/>
        </p:nvSpPr>
        <p:spPr>
          <a:xfrm>
            <a:off x="3886200" y="3566160"/>
            <a:ext cx="13716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4" name="Text 1144"/>
          <p:cNvSpPr txBox="1"/>
          <p:nvPr/>
        </p:nvSpPr>
        <p:spPr>
          <a:xfrm>
            <a:off x="3995928" y="36758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Record drops</a:t>
            </a:r>
          </a:p>
        </p:txBody>
      </p:sp>
      <p:sp>
        <p:nvSpPr>
          <p:cNvPr id="1145" name="Text 1145"/>
          <p:cNvSpPr txBox="1"/>
          <p:nvPr/>
        </p:nvSpPr>
        <p:spPr>
          <a:xfrm>
            <a:off x="3995928" y="3986784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Booking and drops kept in Firestore</a:t>
            </a:r>
          </a:p>
        </p:txBody>
      </p:sp>
      <p:cxnSp>
        <p:nvCxnSpPr>
          <p:cNvPr id="1146" name="Arrow 1146"/>
          <p:cNvCxnSpPr/>
          <p:nvPr/>
        </p:nvCxnSpPr>
        <p:spPr>
          <a:xfrm>
            <a:off x="5285232" y="4137660"/>
            <a:ext cx="219456" cy="0"/>
          </a:xfrm>
          <a:prstGeom prst="straightConnector1">
            <a:avLst/>
          </a:prstGeom>
          <a:ln w="19050">
            <a:solidFill>
              <a:srgbClr val="1B2A3A"/>
            </a:solidFill>
            <a:round/>
            <a:tailEnd type="triangle" w="med" len="med"/>
          </a:ln>
        </p:spPr>
      </p:cxnSp>
      <p:sp>
        <p:nvSpPr>
          <p:cNvPr id="1147" name="Agency step 1147"/>
          <p:cNvSpPr/>
          <p:nvPr/>
        </p:nvSpPr>
        <p:spPr>
          <a:xfrm>
            <a:off x="5532120" y="3566160"/>
            <a:ext cx="13716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8" name="Text 1148"/>
          <p:cNvSpPr txBox="1"/>
          <p:nvPr/>
        </p:nvSpPr>
        <p:spPr>
          <a:xfrm>
            <a:off x="5641848" y="36758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Review cases</a:t>
            </a:r>
          </a:p>
        </p:txBody>
      </p:sp>
      <p:sp>
        <p:nvSpPr>
          <p:cNvPr id="1149" name="Text 1149"/>
          <p:cNvSpPr txBox="1"/>
          <p:nvPr/>
        </p:nvSpPr>
        <p:spPr>
          <a:xfrm>
            <a:off x="5641848" y="3986784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Private console behind Google IAP</a:t>
            </a:r>
          </a:p>
        </p:txBody>
      </p:sp>
      <p:cxnSp>
        <p:nvCxnSpPr>
          <p:cNvPr id="1150" name="Arrow 1150"/>
          <p:cNvCxnSpPr/>
          <p:nvPr/>
        </p:nvCxnSpPr>
        <p:spPr>
          <a:xfrm>
            <a:off x="6931152" y="4137660"/>
            <a:ext cx="219456" cy="0"/>
          </a:xfrm>
          <a:prstGeom prst="straightConnector1">
            <a:avLst/>
          </a:prstGeom>
          <a:ln w="19050">
            <a:solidFill>
              <a:srgbClr val="1B2A3A"/>
            </a:solidFill>
            <a:round/>
            <a:tailEnd type="triangle" w="med" len="med"/>
          </a:ln>
        </p:spPr>
      </p:cxnSp>
      <p:sp>
        <p:nvSpPr>
          <p:cNvPr id="1151" name="Agency step 1151"/>
          <p:cNvSpPr/>
          <p:nvPr/>
        </p:nvSpPr>
        <p:spPr>
          <a:xfrm>
            <a:off x="7178040" y="3566160"/>
            <a:ext cx="13716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95241"/>
            </a:solidFill>
            <a:prstDash val="dash"/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52" name="Text 1152"/>
          <p:cNvSpPr txBox="1"/>
          <p:nvPr/>
        </p:nvSpPr>
        <p:spPr>
          <a:xfrm>
            <a:off x="7287768" y="36758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Rebook cheaper</a:t>
            </a:r>
          </a:p>
        </p:txBody>
      </p:sp>
      <p:sp>
        <p:nvSpPr>
          <p:cNvPr id="1153" name="Text 1153"/>
          <p:cNvSpPr txBox="1"/>
          <p:nvPr/>
        </p:nvSpPr>
        <p:spPr>
          <a:xfrm>
            <a:off x="7287768" y="3986784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Cut supplier cost, keep margin (next)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12" name="RoomDrop logo 1112" descr="RoomDrop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1242" y="640080"/>
            <a:ext cx="1521278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Card 1113"/>
          <p:cNvSpPr/>
          <p:nvPr/>
        </p:nvSpPr>
        <p:spPr>
          <a:xfrm>
            <a:off x="320040" y="1463040"/>
            <a:ext cx="1188720" cy="100584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4" name="Text 1114"/>
          <p:cNvSpPr txBox="1"/>
          <p:nvPr/>
        </p:nvSpPr>
        <p:spPr>
          <a:xfrm>
            <a:off x="411480" y="150876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Traveller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Browser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HTML, CSS, JS</a:t>
            </a:r>
          </a:p>
        </p:txBody>
      </p:sp>
      <p:sp>
        <p:nvSpPr>
          <p:cNvPr id="1115" name="Card 1115"/>
          <p:cNvSpPr/>
          <p:nvPr/>
        </p:nvSpPr>
        <p:spPr>
          <a:xfrm>
            <a:off x="320040" y="274320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6" name="Text 1116"/>
          <p:cNvSpPr txBox="1"/>
          <p:nvPr/>
        </p:nvSpPr>
        <p:spPr>
          <a:xfrm>
            <a:off x="411480" y="278892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Agency operator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Google sign-in</a:t>
            </a:r>
          </a:p>
        </p:txBody>
      </p:sp>
      <p:sp>
        <p:nvSpPr>
          <p:cNvPr id="1117" name="Card 1117"/>
          <p:cNvSpPr/>
          <p:nvPr/>
        </p:nvSpPr>
        <p:spPr>
          <a:xfrm>
            <a:off x="320040" y="379476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DCE3"/>
            </a:solidFill>
            <a:prstDash val="dash"/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18" name="Text 1118"/>
          <p:cNvSpPr txBox="1"/>
          <p:nvPr/>
        </p:nvSpPr>
        <p:spPr>
          <a:xfrm>
            <a:off x="411480" y="3840480"/>
            <a:ext cx="10058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External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Altovo share link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supplier rates</a:t>
            </a:r>
          </a:p>
        </p:txBody>
      </p:sp>
      <p:sp>
        <p:nvSpPr>
          <p:cNvPr id="1119" name="Google Cloud boundary 1119"/>
          <p:cNvSpPr/>
          <p:nvPr/>
        </p:nvSpPr>
        <p:spPr>
          <a:xfrm>
            <a:off x="1691640" y="1170432"/>
            <a:ext cx="7086600" cy="3675888"/>
          </a:xfrm>
          <a:prstGeom prst="roundRect">
            <a:avLst>
              <a:gd name="adj" fmla="val 2985"/>
            </a:avLst>
          </a:prstGeom>
          <a:solidFill>
            <a:srgbClr val="F6F8FA"/>
          </a:solidFill>
          <a:ln w="9525">
            <a:solidFill>
              <a:srgbClr val="D6DCE3"/>
            </a:solidFill>
            <a:round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0" name="Text 1120"/>
          <p:cNvSpPr txBox="1"/>
          <p:nvPr/>
        </p:nvSpPr>
        <p:spPr>
          <a:xfrm>
            <a:off x="1828800" y="1197864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Google Cloud</a:t>
            </a: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  asia-southeast1 unless noted</a:t>
            </a:r>
          </a:p>
        </p:txBody>
      </p:sp>
      <p:sp>
        <p:nvSpPr>
          <p:cNvPr id="1121" name="Card 1121"/>
          <p:cNvSpPr/>
          <p:nvPr/>
        </p:nvSpPr>
        <p:spPr>
          <a:xfrm>
            <a:off x="1874520" y="1463040"/>
            <a:ext cx="2377440" cy="1005840"/>
          </a:xfrm>
          <a:prstGeom prst="roundRect">
            <a:avLst>
              <a:gd name="adj" fmla="val 7272"/>
            </a:avLst>
          </a:prstGeom>
          <a:solidFill>
            <a:srgbClr val="1B2A3A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2" name="Text 1122"/>
          <p:cNvSpPr txBox="1"/>
          <p:nvPr/>
        </p:nvSpPr>
        <p:spPr>
          <a:xfrm>
            <a:off x="1965960" y="150876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Cloud Run service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D5DCE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hotel-price-hunter, Node 24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D5DCE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public, CSRF + strict CSP</a:t>
            </a:r>
          </a:p>
        </p:txBody>
      </p:sp>
      <p:sp>
        <p:nvSpPr>
          <p:cNvPr id="1123" name="Card 1123"/>
          <p:cNvSpPr/>
          <p:nvPr/>
        </p:nvSpPr>
        <p:spPr>
          <a:xfrm>
            <a:off x="6766560" y="1463040"/>
            <a:ext cx="1874520" cy="1005840"/>
          </a:xfrm>
          <a:prstGeom prst="roundRect">
            <a:avLst>
              <a:gd name="adj" fmla="val 7272"/>
            </a:avLst>
          </a:prstGeom>
          <a:solidFill>
            <a:srgbClr val="FBEAE6"/>
          </a:solidFill>
          <a:ln w="9525">
            <a:solidFill>
              <a:srgbClr val="D95241"/>
            </a:solidFill>
            <a:round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4" name="Text 1124"/>
          <p:cNvSpPr txBox="1"/>
          <p:nvPr/>
        </p:nvSpPr>
        <p:spPr>
          <a:xfrm>
            <a:off x="6858000" y="1508760"/>
            <a:ext cx="16916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Gemini 3.8 Flash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Vertex AI, location global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JSON schema + grounding check</a:t>
            </a:r>
          </a:p>
        </p:txBody>
      </p:sp>
      <p:cxnSp>
        <p:nvCxnSpPr>
          <p:cNvPr id="1125" name="Arrow 1125"/>
          <p:cNvCxnSpPr/>
          <p:nvPr/>
        </p:nvCxnSpPr>
        <p:spPr>
          <a:xfrm>
            <a:off x="4251960" y="1810512"/>
            <a:ext cx="2514600" cy="0"/>
          </a:xfrm>
          <a:prstGeom prst="straightConnector1">
            <a:avLst/>
          </a:prstGeom>
          <a:ln w="19050">
            <a:solidFill>
              <a:srgbClr val="1B2A3A"/>
            </a:solidFill>
            <a:round/>
            <a:tailEnd type="triangle" w="med" len="med"/>
          </a:ln>
        </p:spPr>
      </p:cxnSp>
      <p:cxnSp>
        <p:nvCxnSpPr>
          <p:cNvPr id="1126" name="Arrow 1126"/>
          <p:cNvCxnSpPr/>
          <p:nvPr/>
        </p:nvCxnSpPr>
        <p:spPr>
          <a:xfrm flipH="1">
            <a:off x="4251960" y="2121408"/>
            <a:ext cx="2514600" cy="0"/>
          </a:xfrm>
          <a:prstGeom prst="straightConnector1">
            <a:avLst/>
          </a:prstGeom>
          <a:ln w="19050">
            <a:solidFill>
              <a:srgbClr val="D95241"/>
            </a:solidFill>
            <a:round/>
            <a:tailEnd type="triangle" w="med" len="med"/>
          </a:ln>
        </p:spPr>
      </p:cxnSp>
      <p:sp>
        <p:nvSpPr>
          <p:cNvPr id="1127" name="Text 1127"/>
          <p:cNvSpPr txBox="1"/>
          <p:nvPr/>
        </p:nvSpPr>
        <p:spPr>
          <a:xfrm>
            <a:off x="4343400" y="1517904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allowlisted facts + response schema</a:t>
            </a:r>
          </a:p>
        </p:txBody>
      </p:sp>
      <p:sp>
        <p:nvSpPr>
          <p:cNvPr id="1128" name="Text 1128"/>
          <p:cNvSpPr txBox="1"/>
          <p:nvPr/>
        </p:nvSpPr>
        <p:spPr>
          <a:xfrm>
            <a:off x="4343400" y="2157984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D9524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JSON IDs, validated by server</a:t>
            </a:r>
          </a:p>
        </p:txBody>
      </p:sp>
      <p:sp>
        <p:nvSpPr>
          <p:cNvPr id="1129" name="Card 1129"/>
          <p:cNvSpPr/>
          <p:nvPr/>
        </p:nvSpPr>
        <p:spPr>
          <a:xfrm>
            <a:off x="4069080" y="269748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D95241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0" name="Icon badge 1130"/>
          <p:cNvSpPr/>
          <p:nvPr/>
        </p:nvSpPr>
        <p:spPr>
          <a:xfrm>
            <a:off x="4178808" y="2807208"/>
            <a:ext cx="329184" cy="329184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1" name="Icon can 1131"/>
          <p:cNvSpPr/>
          <p:nvPr/>
        </p:nvSpPr>
        <p:spPr>
          <a:xfrm>
            <a:off x="4257812" y="2886212"/>
            <a:ext cx="171176" cy="171176"/>
          </a:xfrm>
          <a:prstGeom prst="can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2" name="Text 1132"/>
          <p:cNvSpPr txBox="1"/>
          <p:nvPr/>
        </p:nvSpPr>
        <p:spPr>
          <a:xfrm>
            <a:off x="4581144" y="2770632"/>
            <a:ext cx="192024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Cloud Firestore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Native mode, transactions</a:t>
            </a:r>
          </a:p>
        </p:txBody>
      </p:sp>
      <p:sp>
        <p:nvSpPr>
          <p:cNvPr id="1133" name="Text 1133"/>
          <p:cNvSpPr txBox="1"/>
          <p:nvPr/>
        </p:nvSpPr>
        <p:spPr>
          <a:xfrm>
            <a:off x="4197096" y="3300984"/>
            <a:ext cx="2249424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roomdropBookingsV1/{code}</a:t>
            </a:r>
          </a:p>
          <a:p>
            <a:pPr marL="164592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5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drops/{dropId}  append-only</a:t>
            </a:r>
          </a:p>
          <a:p>
            <a:pPr mar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roomdropPublicSessionsV1  TTL</a:t>
            </a:r>
          </a:p>
          <a:p>
            <a:pPr mar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0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agency cases, watch state</a:t>
            </a:r>
          </a:p>
        </p:txBody>
      </p:sp>
      <p:sp>
        <p:nvSpPr>
          <p:cNvPr id="1134" name="Text 1134"/>
          <p:cNvSpPr txBox="1"/>
          <p:nvPr/>
        </p:nvSpPr>
        <p:spPr>
          <a:xfrm>
            <a:off x="4197096" y="4270248"/>
            <a:ext cx="224942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 share-link tokens, contacts or guest names stored</a:t>
            </a:r>
          </a:p>
        </p:txBody>
      </p:sp>
      <p:cxnSp>
        <p:nvCxnSpPr>
          <p:cNvPr id="1135" name="Arrow 1135"/>
          <p:cNvCxnSpPr/>
          <p:nvPr/>
        </p:nvCxnSpPr>
        <p:spPr>
          <a:xfrm>
            <a:off x="4160520" y="2468880"/>
            <a:ext cx="0" cy="228600"/>
          </a:xfrm>
          <a:prstGeom prst="straightConnector1">
            <a:avLst/>
          </a:prstGeom>
          <a:ln w="19050">
            <a:solidFill>
              <a:srgbClr val="1B2A3A"/>
            </a:solidFill>
            <a:round/>
            <a:tailEnd type="triangle" w="med" len="med"/>
          </a:ln>
        </p:spPr>
      </p:cxnSp>
      <p:sp>
        <p:nvSpPr>
          <p:cNvPr id="1136" name="Card 1136"/>
          <p:cNvSpPr/>
          <p:nvPr/>
        </p:nvSpPr>
        <p:spPr>
          <a:xfrm>
            <a:off x="1874520" y="274320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7" name="Text 1137"/>
          <p:cNvSpPr txBox="1"/>
          <p:nvPr/>
        </p:nvSpPr>
        <p:spPr>
          <a:xfrm>
            <a:off x="1965960" y="2788920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Agency console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Run behind IAP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read-only cases</a:t>
            </a:r>
          </a:p>
        </p:txBody>
      </p:sp>
      <p:sp>
        <p:nvSpPr>
          <p:cNvPr id="1138" name="Card 1138"/>
          <p:cNvSpPr/>
          <p:nvPr/>
        </p:nvSpPr>
        <p:spPr>
          <a:xfrm>
            <a:off x="1874520" y="37947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9" name="Text 1139"/>
          <p:cNvSpPr txBox="1"/>
          <p:nvPr/>
        </p:nvSpPr>
        <p:spPr>
          <a:xfrm>
            <a:off x="1965960" y="3840480"/>
            <a:ext cx="17830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Cloud Run Job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roomdrop-price-watch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re-shops held stays</a:t>
            </a:r>
          </a:p>
        </p:txBody>
      </p:sp>
      <p:cxnSp>
        <p:nvCxnSpPr>
          <p:cNvPr id="1140" name="Arrow 1140"/>
          <p:cNvCxnSpPr/>
          <p:nvPr/>
        </p:nvCxnSpPr>
        <p:spPr>
          <a:xfrm>
            <a:off x="1508760" y="1965960"/>
            <a:ext cx="365760" cy="0"/>
          </a:xfrm>
          <a:prstGeom prst="straightConnector1">
            <a:avLst/>
          </a:prstGeom>
          <a:ln w="19050">
            <a:solidFill>
              <a:srgbClr val="1B2A3A"/>
            </a:solidFill>
            <a:round/>
            <a:tailEnd type="triangle" w="med" len="med"/>
          </a:ln>
        </p:spPr>
      </p:cxnSp>
      <p:cxnSp>
        <p:nvCxnSpPr>
          <p:cNvPr id="1141" name="Arrow 1141"/>
          <p:cNvCxnSpPr/>
          <p:nvPr/>
        </p:nvCxnSpPr>
        <p:spPr>
          <a:xfrm>
            <a:off x="1508760" y="3108960"/>
            <a:ext cx="365760" cy="0"/>
          </a:xfrm>
          <a:prstGeom prst="straightConnector1">
            <a:avLst/>
          </a:prstGeom>
          <a:ln w="19050">
            <a:solidFill>
              <a:srgbClr val="1B2A3A"/>
            </a:solidFill>
            <a:round/>
            <a:tailEnd type="triangle" w="med" len="med"/>
          </a:ln>
        </p:spPr>
      </p:cxnSp>
      <p:cxnSp>
        <p:nvCxnSpPr>
          <p:cNvPr id="1142" name="Arrow 1142"/>
          <p:cNvCxnSpPr/>
          <p:nvPr/>
        </p:nvCxnSpPr>
        <p:spPr>
          <a:xfrm>
            <a:off x="1508760" y="4229100"/>
            <a:ext cx="365760" cy="0"/>
          </a:xfrm>
          <a:prstGeom prst="straightConnector1">
            <a:avLst/>
          </a:prstGeom>
          <a:ln w="19050">
            <a:solidFill>
              <a:srgbClr val="1B2A3A"/>
            </a:solidFill>
            <a:prstDash val="dash"/>
            <a:round/>
            <a:headEnd type="triangle" w="med" len="med"/>
          </a:ln>
        </p:spPr>
      </p:cxnSp>
      <p:cxnSp>
        <p:nvCxnSpPr>
          <p:cNvPr id="1143" name="Arrow 1143"/>
          <p:cNvCxnSpPr/>
          <p:nvPr/>
        </p:nvCxnSpPr>
        <p:spPr>
          <a:xfrm>
            <a:off x="3840480" y="3108960"/>
            <a:ext cx="228600" cy="0"/>
          </a:xfrm>
          <a:prstGeom prst="straightConnector1">
            <a:avLst/>
          </a:prstGeom>
          <a:ln w="19050">
            <a:solidFill>
              <a:srgbClr val="1B2A3A"/>
            </a:solidFill>
            <a:round/>
            <a:tailEnd type="triangle" w="med" len="med"/>
          </a:ln>
        </p:spPr>
      </p:cxnSp>
      <p:cxnSp>
        <p:nvCxnSpPr>
          <p:cNvPr id="1144" name="Arrow 1144"/>
          <p:cNvCxnSpPr/>
          <p:nvPr/>
        </p:nvCxnSpPr>
        <p:spPr>
          <a:xfrm>
            <a:off x="3840480" y="4229100"/>
            <a:ext cx="228600" cy="0"/>
          </a:xfrm>
          <a:prstGeom prst="straightConnector1">
            <a:avLst/>
          </a:prstGeom>
          <a:ln w="19050">
            <a:solidFill>
              <a:srgbClr val="1B2A3A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1145" name="Card 1145"/>
          <p:cNvSpPr/>
          <p:nvPr/>
        </p:nvSpPr>
        <p:spPr>
          <a:xfrm>
            <a:off x="6766560" y="2743200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6" name="Text 1146"/>
          <p:cNvSpPr txBox="1"/>
          <p:nvPr/>
        </p:nvSpPr>
        <p:spPr>
          <a:xfrm>
            <a:off x="6858000" y="278892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IAM identities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least privilege, no keys</a:t>
            </a:r>
          </a:p>
        </p:txBody>
      </p:sp>
      <p:sp>
        <p:nvSpPr>
          <p:cNvPr id="1147" name="Card 1147"/>
          <p:cNvSpPr/>
          <p:nvPr/>
        </p:nvSpPr>
        <p:spPr>
          <a:xfrm>
            <a:off x="6766560" y="379476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8" name="Text 1148"/>
          <p:cNvSpPr txBox="1"/>
          <p:nvPr/>
        </p:nvSpPr>
        <p:spPr>
          <a:xfrm>
            <a:off x="6858000" y="3840480"/>
            <a:ext cx="16916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1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Artifact Registry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immutable images for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all Cloud Run workloads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20" name="RoomDrop logo 1120" descr="RoomDrop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1242" y="640080"/>
            <a:ext cx="1521278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Tech group 1121"/>
          <p:cNvSpPr/>
          <p:nvPr/>
        </p:nvSpPr>
        <p:spPr>
          <a:xfrm>
            <a:off x="457200" y="1234440"/>
            <a:ext cx="4023360" cy="1115568"/>
          </a:xfrm>
          <a:prstGeom prst="roundRect">
            <a:avLst>
              <a:gd name="adj" fmla="val 8196"/>
            </a:avLst>
          </a:prstGeom>
          <a:solidFill>
            <a:srgbClr val="FEFBF5"/>
          </a:solidFill>
          <a:ln w="9525">
            <a:solidFill>
              <a:srgbClr val="D6DCE3"/>
            </a:solidFill>
            <a:round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2" name="Icon badge 1122"/>
          <p:cNvSpPr/>
          <p:nvPr/>
        </p:nvSpPr>
        <p:spPr>
          <a:xfrm>
            <a:off x="594360" y="1325880"/>
            <a:ext cx="274320" cy="274320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3" name="Icon frame 1123"/>
          <p:cNvSpPr/>
          <p:nvPr/>
        </p:nvSpPr>
        <p:spPr>
          <a:xfrm>
            <a:off x="660197" y="1391717"/>
            <a:ext cx="142646" cy="142646"/>
          </a:xfrm>
          <a:prstGeom prst="frame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4" name="Text 1124"/>
          <p:cNvSpPr txBox="1"/>
          <p:nvPr/>
        </p:nvSpPr>
        <p:spPr>
          <a:xfrm>
            <a:off x="960120" y="13258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Frontend</a:t>
            </a:r>
          </a:p>
        </p:txBody>
      </p:sp>
      <p:sp>
        <p:nvSpPr>
          <p:cNvPr id="1125" name="Chip 1125"/>
          <p:cNvSpPr/>
          <p:nvPr/>
        </p:nvSpPr>
        <p:spPr>
          <a:xfrm>
            <a:off x="594360" y="1691640"/>
            <a:ext cx="192024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Vanilla HTML / CSS / JS</a:t>
            </a:r>
          </a:p>
        </p:txBody>
      </p:sp>
      <p:sp>
        <p:nvSpPr>
          <p:cNvPr id="1126" name="Chip 1126"/>
          <p:cNvSpPr/>
          <p:nvPr/>
        </p:nvSpPr>
        <p:spPr>
          <a:xfrm>
            <a:off x="594360" y="2002536"/>
            <a:ext cx="206654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ES modules, no build step</a:t>
            </a:r>
          </a:p>
        </p:txBody>
      </p:sp>
      <p:sp>
        <p:nvSpPr>
          <p:cNvPr id="1127" name="Chip 1127"/>
          <p:cNvSpPr/>
          <p:nvPr/>
        </p:nvSpPr>
        <p:spPr>
          <a:xfrm>
            <a:off x="2752344" y="2002536"/>
            <a:ext cx="96926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Strict CSP</a:t>
            </a:r>
          </a:p>
        </p:txBody>
      </p:sp>
      <p:sp>
        <p:nvSpPr>
          <p:cNvPr id="1128" name="Tech group 1128"/>
          <p:cNvSpPr/>
          <p:nvPr/>
        </p:nvSpPr>
        <p:spPr>
          <a:xfrm>
            <a:off x="4663440" y="1234440"/>
            <a:ext cx="4023360" cy="1115568"/>
          </a:xfrm>
          <a:prstGeom prst="roundRect">
            <a:avLst>
              <a:gd name="adj" fmla="val 8196"/>
            </a:avLst>
          </a:prstGeom>
          <a:solidFill>
            <a:srgbClr val="FEFBF5"/>
          </a:solidFill>
          <a:ln w="9525">
            <a:solidFill>
              <a:srgbClr val="D6DCE3"/>
            </a:solidFill>
            <a:round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29" name="Icon badge 1129"/>
          <p:cNvSpPr/>
          <p:nvPr/>
        </p:nvSpPr>
        <p:spPr>
          <a:xfrm>
            <a:off x="4800600" y="1325880"/>
            <a:ext cx="274320" cy="274320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0" name="Icon code 1130"/>
          <p:cNvSpPr/>
          <p:nvPr/>
        </p:nvSpPr>
        <p:spPr>
          <a:xfrm>
            <a:off x="4866437" y="1391717"/>
            <a:ext cx="142646" cy="142646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30" y="20"/>
                </a:moveTo>
                <a:lnTo>
                  <a:pt x="40" y="30"/>
                </a:lnTo>
                <a:lnTo>
                  <a:pt x="20" y="50"/>
                </a:lnTo>
                <a:lnTo>
                  <a:pt x="40" y="70"/>
                </a:lnTo>
                <a:lnTo>
                  <a:pt x="30" y="80"/>
                </a:lnTo>
                <a:lnTo>
                  <a:pt x="0" y="50"/>
                </a:lnTo>
                <a:close/>
              </a:path>
              <a:path w="100" h="100">
                <a:moveTo>
                  <a:pt x="70" y="20"/>
                </a:moveTo>
                <a:lnTo>
                  <a:pt x="100" y="50"/>
                </a:lnTo>
                <a:lnTo>
                  <a:pt x="70" y="80"/>
                </a:lnTo>
                <a:lnTo>
                  <a:pt x="60" y="70"/>
                </a:lnTo>
                <a:lnTo>
                  <a:pt x="80" y="50"/>
                </a:lnTo>
                <a:lnTo>
                  <a:pt x="60" y="30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1" name="Text 1131"/>
          <p:cNvSpPr txBox="1"/>
          <p:nvPr/>
        </p:nvSpPr>
        <p:spPr>
          <a:xfrm>
            <a:off x="5166360" y="13258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Backend</a:t>
            </a:r>
          </a:p>
        </p:txBody>
      </p:sp>
      <p:sp>
        <p:nvSpPr>
          <p:cNvPr id="1132" name="Chip 1132"/>
          <p:cNvSpPr/>
          <p:nvPr/>
        </p:nvSpPr>
        <p:spPr>
          <a:xfrm>
            <a:off x="4800600" y="1691640"/>
            <a:ext cx="96926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Node.js 24</a:t>
            </a:r>
          </a:p>
        </p:txBody>
      </p:sp>
      <p:sp>
        <p:nvSpPr>
          <p:cNvPr id="1133" name="Chip 1133"/>
          <p:cNvSpPr/>
          <p:nvPr/>
        </p:nvSpPr>
        <p:spPr>
          <a:xfrm>
            <a:off x="5861304" y="1691640"/>
            <a:ext cx="1773936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node:24-bookworm-slim</a:t>
            </a:r>
          </a:p>
        </p:txBody>
      </p:sp>
      <p:sp>
        <p:nvSpPr>
          <p:cNvPr id="1134" name="Chip 1134"/>
          <p:cNvSpPr/>
          <p:nvPr/>
        </p:nvSpPr>
        <p:spPr>
          <a:xfrm>
            <a:off x="4800600" y="2002536"/>
            <a:ext cx="155448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built-in node:http</a:t>
            </a:r>
          </a:p>
        </p:txBody>
      </p:sp>
      <p:sp>
        <p:nvSpPr>
          <p:cNvPr id="1135" name="Chip 1135"/>
          <p:cNvSpPr/>
          <p:nvPr/>
        </p:nvSpPr>
        <p:spPr>
          <a:xfrm>
            <a:off x="6446520" y="2002536"/>
            <a:ext cx="96926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npm 11.6.2</a:t>
            </a:r>
          </a:p>
        </p:txBody>
      </p:sp>
      <p:sp>
        <p:nvSpPr>
          <p:cNvPr id="1136" name="Tech group 1136"/>
          <p:cNvSpPr/>
          <p:nvPr/>
        </p:nvSpPr>
        <p:spPr>
          <a:xfrm>
            <a:off x="457200" y="2441448"/>
            <a:ext cx="4023360" cy="1115568"/>
          </a:xfrm>
          <a:prstGeom prst="roundRect">
            <a:avLst>
              <a:gd name="adj" fmla="val 8196"/>
            </a:avLst>
          </a:prstGeom>
          <a:solidFill>
            <a:srgbClr val="FEFBF5"/>
          </a:solidFill>
          <a:ln w="9525">
            <a:solidFill>
              <a:srgbClr val="D6DCE3"/>
            </a:solidFill>
            <a:round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7" name="Icon badge 1137"/>
          <p:cNvSpPr/>
          <p:nvPr/>
        </p:nvSpPr>
        <p:spPr>
          <a:xfrm>
            <a:off x="594360" y="2532888"/>
            <a:ext cx="274320" cy="274320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8" name="Icon star4 1138"/>
          <p:cNvSpPr/>
          <p:nvPr/>
        </p:nvSpPr>
        <p:spPr>
          <a:xfrm>
            <a:off x="660197" y="2598725"/>
            <a:ext cx="142646" cy="142646"/>
          </a:xfrm>
          <a:prstGeom prst="star4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39" name="Text 1139"/>
          <p:cNvSpPr txBox="1"/>
          <p:nvPr/>
        </p:nvSpPr>
        <p:spPr>
          <a:xfrm>
            <a:off x="960120" y="253288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AI</a:t>
            </a:r>
          </a:p>
        </p:txBody>
      </p:sp>
      <p:sp>
        <p:nvSpPr>
          <p:cNvPr id="1140" name="Chip 1140"/>
          <p:cNvSpPr/>
          <p:nvPr/>
        </p:nvSpPr>
        <p:spPr>
          <a:xfrm>
            <a:off x="594360" y="2898648"/>
            <a:ext cx="1408176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3.8 Flash</a:t>
            </a:r>
          </a:p>
        </p:txBody>
      </p:sp>
      <p:sp>
        <p:nvSpPr>
          <p:cNvPr id="1141" name="Chip 1141"/>
          <p:cNvSpPr/>
          <p:nvPr/>
        </p:nvSpPr>
        <p:spPr>
          <a:xfrm>
            <a:off x="2093976" y="2898648"/>
            <a:ext cx="155448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Vertex AI (global)</a:t>
            </a:r>
          </a:p>
        </p:txBody>
      </p:sp>
      <p:sp>
        <p:nvSpPr>
          <p:cNvPr id="1142" name="Chip 1142"/>
          <p:cNvSpPr/>
          <p:nvPr/>
        </p:nvSpPr>
        <p:spPr>
          <a:xfrm>
            <a:off x="594360" y="3209544"/>
            <a:ext cx="170078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@google/genai 2.28.0</a:t>
            </a:r>
          </a:p>
        </p:txBody>
      </p:sp>
      <p:sp>
        <p:nvSpPr>
          <p:cNvPr id="1143" name="Chip 1143"/>
          <p:cNvSpPr/>
          <p:nvPr/>
        </p:nvSpPr>
        <p:spPr>
          <a:xfrm>
            <a:off x="2386584" y="3209544"/>
            <a:ext cx="170078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JSON response schema</a:t>
            </a:r>
          </a:p>
        </p:txBody>
      </p:sp>
      <p:sp>
        <p:nvSpPr>
          <p:cNvPr id="1144" name="Tech group 1144"/>
          <p:cNvSpPr/>
          <p:nvPr/>
        </p:nvSpPr>
        <p:spPr>
          <a:xfrm>
            <a:off x="4663440" y="2441448"/>
            <a:ext cx="4023360" cy="1115568"/>
          </a:xfrm>
          <a:prstGeom prst="roundRect">
            <a:avLst>
              <a:gd name="adj" fmla="val 8196"/>
            </a:avLst>
          </a:prstGeom>
          <a:solidFill>
            <a:srgbClr val="FEFBF5"/>
          </a:solidFill>
          <a:ln w="9525">
            <a:solidFill>
              <a:srgbClr val="D6DCE3"/>
            </a:solidFill>
            <a:round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5" name="Icon badge 1145"/>
          <p:cNvSpPr/>
          <p:nvPr/>
        </p:nvSpPr>
        <p:spPr>
          <a:xfrm>
            <a:off x="4800600" y="2532888"/>
            <a:ext cx="274320" cy="274320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6" name="Icon can 1146"/>
          <p:cNvSpPr/>
          <p:nvPr/>
        </p:nvSpPr>
        <p:spPr>
          <a:xfrm>
            <a:off x="4866437" y="2598725"/>
            <a:ext cx="142646" cy="142646"/>
          </a:xfrm>
          <a:prstGeom prst="can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7" name="Text 1147"/>
          <p:cNvSpPr txBox="1"/>
          <p:nvPr/>
        </p:nvSpPr>
        <p:spPr>
          <a:xfrm>
            <a:off x="5166360" y="253288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Data</a:t>
            </a:r>
          </a:p>
        </p:txBody>
      </p:sp>
      <p:sp>
        <p:nvSpPr>
          <p:cNvPr id="1148" name="Chip 1148"/>
          <p:cNvSpPr/>
          <p:nvPr/>
        </p:nvSpPr>
        <p:spPr>
          <a:xfrm>
            <a:off x="4800600" y="2898648"/>
            <a:ext cx="1335024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Firestore</a:t>
            </a:r>
          </a:p>
        </p:txBody>
      </p:sp>
      <p:sp>
        <p:nvSpPr>
          <p:cNvPr id="1149" name="Chip 1149"/>
          <p:cNvSpPr/>
          <p:nvPr/>
        </p:nvSpPr>
        <p:spPr>
          <a:xfrm>
            <a:off x="6227064" y="2898648"/>
            <a:ext cx="1627632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Firestore SDK 9.3.1</a:t>
            </a:r>
          </a:p>
        </p:txBody>
      </p:sp>
      <p:sp>
        <p:nvSpPr>
          <p:cNvPr id="1150" name="Chip 1150"/>
          <p:cNvSpPr/>
          <p:nvPr/>
        </p:nvSpPr>
        <p:spPr>
          <a:xfrm>
            <a:off x="4800600" y="3209544"/>
            <a:ext cx="338328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Firebase emulator for local Firestore tests</a:t>
            </a:r>
          </a:p>
        </p:txBody>
      </p:sp>
      <p:sp>
        <p:nvSpPr>
          <p:cNvPr id="1151" name="Tech group 1151"/>
          <p:cNvSpPr/>
          <p:nvPr/>
        </p:nvSpPr>
        <p:spPr>
          <a:xfrm>
            <a:off x="457200" y="3648456"/>
            <a:ext cx="4023360" cy="1115568"/>
          </a:xfrm>
          <a:prstGeom prst="roundRect">
            <a:avLst>
              <a:gd name="adj" fmla="val 8196"/>
            </a:avLst>
          </a:prstGeom>
          <a:solidFill>
            <a:srgbClr val="FEFBF5"/>
          </a:solidFill>
          <a:ln w="9525">
            <a:solidFill>
              <a:srgbClr val="D6DCE3"/>
            </a:solidFill>
            <a:round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52" name="Icon badge 1152"/>
          <p:cNvSpPr/>
          <p:nvPr/>
        </p:nvSpPr>
        <p:spPr>
          <a:xfrm>
            <a:off x="594360" y="3739896"/>
            <a:ext cx="274320" cy="274320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53" name="Icon cloud 1153"/>
          <p:cNvSpPr/>
          <p:nvPr/>
        </p:nvSpPr>
        <p:spPr>
          <a:xfrm>
            <a:off x="660197" y="3805733"/>
            <a:ext cx="142646" cy="142646"/>
          </a:xfrm>
          <a:prstGeom prst="cloud">
            <a:avLst/>
          </a:pr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54" name="Text 1154"/>
          <p:cNvSpPr txBox="1"/>
          <p:nvPr/>
        </p:nvSpPr>
        <p:spPr>
          <a:xfrm>
            <a:off x="960120" y="37398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Cloud / DevOps</a:t>
            </a:r>
          </a:p>
        </p:txBody>
      </p:sp>
      <p:sp>
        <p:nvSpPr>
          <p:cNvPr id="1155" name="Chip 1155"/>
          <p:cNvSpPr/>
          <p:nvPr/>
        </p:nvSpPr>
        <p:spPr>
          <a:xfrm>
            <a:off x="594360" y="4105656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Run services + Job</a:t>
            </a:r>
          </a:p>
        </p:txBody>
      </p:sp>
      <p:sp>
        <p:nvSpPr>
          <p:cNvPr id="1156" name="Chip 1156"/>
          <p:cNvSpPr/>
          <p:nvPr/>
        </p:nvSpPr>
        <p:spPr>
          <a:xfrm>
            <a:off x="2679192" y="4105656"/>
            <a:ext cx="1481328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Artifact Registry</a:t>
            </a:r>
          </a:p>
        </p:txBody>
      </p:sp>
      <p:sp>
        <p:nvSpPr>
          <p:cNvPr id="1157" name="Chip 1157"/>
          <p:cNvSpPr/>
          <p:nvPr/>
        </p:nvSpPr>
        <p:spPr>
          <a:xfrm>
            <a:off x="594360" y="4416552"/>
            <a:ext cx="1408176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IAM + Google IAP</a:t>
            </a:r>
          </a:p>
        </p:txBody>
      </p:sp>
      <p:sp>
        <p:nvSpPr>
          <p:cNvPr id="1158" name="Chip 1158"/>
          <p:cNvSpPr/>
          <p:nvPr/>
        </p:nvSpPr>
        <p:spPr>
          <a:xfrm>
            <a:off x="2093976" y="4416552"/>
            <a:ext cx="676656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Docker</a:t>
            </a:r>
          </a:p>
        </p:txBody>
      </p:sp>
      <p:sp>
        <p:nvSpPr>
          <p:cNvPr id="1159" name="Tech group 1159"/>
          <p:cNvSpPr/>
          <p:nvPr/>
        </p:nvSpPr>
        <p:spPr>
          <a:xfrm>
            <a:off x="4663440" y="3648456"/>
            <a:ext cx="4023360" cy="1115568"/>
          </a:xfrm>
          <a:prstGeom prst="roundRect">
            <a:avLst>
              <a:gd name="adj" fmla="val 8196"/>
            </a:avLst>
          </a:prstGeom>
          <a:solidFill>
            <a:srgbClr val="FEFBF5"/>
          </a:solidFill>
          <a:ln w="9525">
            <a:solidFill>
              <a:srgbClr val="D6DCE3"/>
            </a:solidFill>
            <a:round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60" name="Icon badge 1160"/>
          <p:cNvSpPr/>
          <p:nvPr/>
        </p:nvSpPr>
        <p:spPr>
          <a:xfrm>
            <a:off x="4800600" y="3739896"/>
            <a:ext cx="274320" cy="274320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61" name="Icon check 1161"/>
          <p:cNvSpPr/>
          <p:nvPr/>
        </p:nvSpPr>
        <p:spPr>
          <a:xfrm>
            <a:off x="4866437" y="3805733"/>
            <a:ext cx="142646" cy="142646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8" y="52"/>
                </a:moveTo>
                <a:lnTo>
                  <a:pt x="22" y="38"/>
                </a:lnTo>
                <a:lnTo>
                  <a:pt x="40" y="56"/>
                </a:lnTo>
                <a:lnTo>
                  <a:pt x="78" y="18"/>
                </a:lnTo>
                <a:lnTo>
                  <a:pt x="92" y="32"/>
                </a:lnTo>
                <a:lnTo>
                  <a:pt x="40" y="84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62" name="Text 1162"/>
          <p:cNvSpPr txBox="1"/>
          <p:nvPr/>
        </p:nvSpPr>
        <p:spPr>
          <a:xfrm>
            <a:off x="5166360" y="37398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Testing</a:t>
            </a:r>
          </a:p>
        </p:txBody>
      </p:sp>
      <p:sp>
        <p:nvSpPr>
          <p:cNvPr id="1163" name="Chip 1163"/>
          <p:cNvSpPr/>
          <p:nvPr/>
        </p:nvSpPr>
        <p:spPr>
          <a:xfrm>
            <a:off x="4800600" y="4105656"/>
            <a:ext cx="1627632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node:test, 292 pass</a:t>
            </a:r>
          </a:p>
        </p:txBody>
      </p:sp>
      <p:sp>
        <p:nvSpPr>
          <p:cNvPr id="1164" name="Chip 1164"/>
          <p:cNvSpPr/>
          <p:nvPr/>
        </p:nvSpPr>
        <p:spPr>
          <a:xfrm>
            <a:off x="6519672" y="4105656"/>
            <a:ext cx="1993392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Firestore emulator tests</a:t>
            </a:r>
          </a:p>
        </p:txBody>
      </p:sp>
      <p:sp>
        <p:nvSpPr>
          <p:cNvPr id="1165" name="Chip 1165"/>
          <p:cNvSpPr/>
          <p:nvPr/>
        </p:nvSpPr>
        <p:spPr>
          <a:xfrm>
            <a:off x="4800600" y="4416552"/>
            <a:ext cx="192024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</p:spPr>
        <p:txBody>
          <a:bodyPr wrap="square" lIns="45720" tIns="0" rIns="4572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Playwright, 320-1440 px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36" name="RoomDrop logo 1136" descr="RoomDrop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1242" y="640080"/>
            <a:ext cx="1521278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Phone frame 1137"/>
          <p:cNvSpPr/>
          <p:nvPr/>
        </p:nvSpPr>
        <p:spPr>
          <a:xfrm>
            <a:off x="844734" y="1234440"/>
            <a:ext cx="1522184" cy="3127248"/>
          </a:xfrm>
          <a:prstGeom prst="roundRect">
            <a:avLst>
              <a:gd name="adj" fmla="val 9611"/>
            </a:avLst>
          </a:prstGeom>
          <a:solidFill>
            <a:srgbClr val="1B2A3A"/>
          </a:solidFill>
          <a:ln>
            <a:noFill/>
          </a:ln>
          <a:effectLst>
            <a:outerShdw blurRad="109728" dist="36576" dir="5400000" algn="t" rotWithShape="0">
              <a:srgbClr val="1B2A3A">
                <a:alpha val="24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pic>
        <p:nvPicPr>
          <p:cNvPr id="1138" name="Screenshot 1138" descr="Find your next dro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598" y="1289304"/>
            <a:ext cx="1412456" cy="3017520"/>
          </a:xfrm>
          <a:prstGeom prst="roundRect">
            <a:avLst>
              <a:gd name="adj" fmla="val 7121"/>
            </a:avLst>
          </a:prstGeom>
          <a:noFill/>
          <a:ln>
            <a:noFill/>
          </a:ln>
        </p:spPr>
      </p:pic>
      <p:sp>
        <p:nvSpPr>
          <p:cNvPr id="1139" name="Text 1139"/>
          <p:cNvSpPr txBox="1"/>
          <p:nvPr/>
        </p:nvSpPr>
        <p:spPr>
          <a:xfrm>
            <a:off x="691426" y="445312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  </a:t>
            </a:r>
            <a:r>
              <a:rPr lang="en-GB" sz="1200">
                <a:solidFill>
                  <a:srgbClr val="1B2A3A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Find your next drop</a:t>
            </a:r>
          </a:p>
        </p:txBody>
      </p:sp>
      <p:sp>
        <p:nvSpPr>
          <p:cNvPr id="1140" name="Phone frame 1140"/>
          <p:cNvSpPr/>
          <p:nvPr/>
        </p:nvSpPr>
        <p:spPr>
          <a:xfrm>
            <a:off x="2824118" y="1234440"/>
            <a:ext cx="1522184" cy="3127248"/>
          </a:xfrm>
          <a:prstGeom prst="roundRect">
            <a:avLst>
              <a:gd name="adj" fmla="val 9611"/>
            </a:avLst>
          </a:prstGeom>
          <a:solidFill>
            <a:srgbClr val="1B2A3A"/>
          </a:solidFill>
          <a:ln>
            <a:noFill/>
          </a:ln>
          <a:effectLst>
            <a:outerShdw blurRad="109728" dist="36576" dir="5400000" algn="t" rotWithShape="0">
              <a:srgbClr val="1B2A3A">
                <a:alpha val="24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pic>
        <p:nvPicPr>
          <p:cNvPr id="1141" name="Screenshot 1141" descr="Peek at a dro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8982" y="1289304"/>
            <a:ext cx="1412456" cy="3017520"/>
          </a:xfrm>
          <a:prstGeom prst="roundRect">
            <a:avLst>
              <a:gd name="adj" fmla="val 7121"/>
            </a:avLst>
          </a:prstGeom>
          <a:noFill/>
          <a:ln>
            <a:noFill/>
          </a:ln>
        </p:spPr>
      </p:pic>
      <p:sp>
        <p:nvSpPr>
          <p:cNvPr id="1142" name="Text 1142"/>
          <p:cNvSpPr txBox="1"/>
          <p:nvPr/>
        </p:nvSpPr>
        <p:spPr>
          <a:xfrm>
            <a:off x="2670811" y="445312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2  </a:t>
            </a:r>
            <a:r>
              <a:rPr lang="en-GB" sz="1200">
                <a:solidFill>
                  <a:srgbClr val="1B2A3A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Peek at a drop</a:t>
            </a:r>
          </a:p>
        </p:txBody>
      </p:sp>
      <p:sp>
        <p:nvSpPr>
          <p:cNvPr id="1143" name="Phone frame 1143"/>
          <p:cNvSpPr/>
          <p:nvPr/>
        </p:nvSpPr>
        <p:spPr>
          <a:xfrm>
            <a:off x="4803503" y="1234440"/>
            <a:ext cx="1517691" cy="3127248"/>
          </a:xfrm>
          <a:prstGeom prst="roundRect">
            <a:avLst>
              <a:gd name="adj" fmla="val 9639"/>
            </a:avLst>
          </a:prstGeom>
          <a:solidFill>
            <a:srgbClr val="1B2A3A"/>
          </a:solidFill>
          <a:ln>
            <a:noFill/>
          </a:ln>
          <a:effectLst>
            <a:outerShdw blurRad="109728" dist="36576" dir="5400000" algn="t" rotWithShape="0">
              <a:srgbClr val="1B2A3A">
                <a:alpha val="24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pic>
        <p:nvPicPr>
          <p:cNvPr id="1144" name="Screenshot 1144" descr="Ask Gemini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8367" y="1289304"/>
            <a:ext cx="1407963" cy="3017520"/>
          </a:xfrm>
          <a:prstGeom prst="roundRect">
            <a:avLst>
              <a:gd name="adj" fmla="val 7143"/>
            </a:avLst>
          </a:prstGeom>
          <a:noFill/>
          <a:ln>
            <a:noFill/>
          </a:ln>
        </p:spPr>
      </p:pic>
      <p:sp>
        <p:nvSpPr>
          <p:cNvPr id="1145" name="Text 1145"/>
          <p:cNvSpPr txBox="1"/>
          <p:nvPr/>
        </p:nvSpPr>
        <p:spPr>
          <a:xfrm>
            <a:off x="4647948" y="445312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  </a:t>
            </a:r>
            <a:r>
              <a:rPr lang="en-GB" sz="1200">
                <a:solidFill>
                  <a:srgbClr val="1B2A3A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Ask Gemini</a:t>
            </a:r>
          </a:p>
        </p:txBody>
      </p:sp>
      <p:sp>
        <p:nvSpPr>
          <p:cNvPr id="1146" name="Phone frame 1146"/>
          <p:cNvSpPr/>
          <p:nvPr/>
        </p:nvSpPr>
        <p:spPr>
          <a:xfrm>
            <a:off x="6778393" y="1234440"/>
            <a:ext cx="1520872" cy="3127248"/>
          </a:xfrm>
          <a:prstGeom prst="roundRect">
            <a:avLst>
              <a:gd name="adj" fmla="val 9619"/>
            </a:avLst>
          </a:prstGeom>
          <a:solidFill>
            <a:srgbClr val="1B2A3A"/>
          </a:solidFill>
          <a:ln>
            <a:noFill/>
          </a:ln>
          <a:effectLst>
            <a:outerShdw blurRad="109728" dist="36576" dir="5400000" algn="t" rotWithShape="0">
              <a:srgbClr val="1B2A3A">
                <a:alpha val="24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pic>
        <p:nvPicPr>
          <p:cNvPr id="1147" name="Screenshot 1147" descr="Confirmed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3257" y="1289304"/>
            <a:ext cx="1411144" cy="3017520"/>
          </a:xfrm>
          <a:prstGeom prst="roundRect">
            <a:avLst>
              <a:gd name="adj" fmla="val 7127"/>
            </a:avLst>
          </a:prstGeom>
          <a:noFill/>
          <a:ln>
            <a:noFill/>
          </a:ln>
        </p:spPr>
      </p:pic>
      <p:sp>
        <p:nvSpPr>
          <p:cNvPr id="1148" name="Text 1148"/>
          <p:cNvSpPr txBox="1"/>
          <p:nvPr/>
        </p:nvSpPr>
        <p:spPr>
          <a:xfrm>
            <a:off x="6624430" y="445312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4  </a:t>
            </a:r>
            <a:r>
              <a:rPr lang="en-GB" sz="1200">
                <a:solidFill>
                  <a:srgbClr val="1B2A3A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Confirmed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44" name="RoomDrop logo 1144" descr="RoomDrop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1242" y="640080"/>
            <a:ext cx="1521278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Callout 1145"/>
          <p:cNvSpPr/>
          <p:nvPr/>
        </p:nvSpPr>
        <p:spPr>
          <a:xfrm>
            <a:off x="457200" y="123444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FEFBF5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6" name="Text 1146"/>
          <p:cNvSpPr txBox="1"/>
          <p:nvPr/>
        </p:nvSpPr>
        <p:spPr>
          <a:xfrm>
            <a:off x="594360" y="12801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100/100</a:t>
            </a:r>
          </a:p>
        </p:txBody>
      </p:sp>
      <p:sp>
        <p:nvSpPr>
          <p:cNvPr id="1147" name="Text 1147"/>
          <p:cNvSpPr txBox="1"/>
          <p:nvPr/>
        </p:nvSpPr>
        <p:spPr>
          <a:xfrm>
            <a:off x="594360" y="178308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Accessibility and Best Practices, mobile and desktop</a:t>
            </a:r>
          </a:p>
        </p:txBody>
      </p:sp>
      <p:sp>
        <p:nvSpPr>
          <p:cNvPr id="1148" name="Callout 1148"/>
          <p:cNvSpPr/>
          <p:nvPr/>
        </p:nvSpPr>
        <p:spPr>
          <a:xfrm>
            <a:off x="2560320" y="123444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49" name="Text 1149"/>
          <p:cNvSpPr txBox="1"/>
          <p:nvPr/>
        </p:nvSpPr>
        <p:spPr>
          <a:xfrm>
            <a:off x="2697480" y="12801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3.3 s</a:t>
            </a:r>
          </a:p>
        </p:txBody>
      </p:sp>
      <p:sp>
        <p:nvSpPr>
          <p:cNvPr id="1150" name="Text 1150"/>
          <p:cNvSpPr txBox="1"/>
          <p:nvPr/>
        </p:nvSpPr>
        <p:spPr>
          <a:xfrm>
            <a:off x="2697480" y="178308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median Gemini reply; 7/7 passed grounding checks</a:t>
            </a:r>
          </a:p>
        </p:txBody>
      </p:sp>
      <p:sp>
        <p:nvSpPr>
          <p:cNvPr id="1151" name="Callout 1151"/>
          <p:cNvSpPr/>
          <p:nvPr/>
        </p:nvSpPr>
        <p:spPr>
          <a:xfrm>
            <a:off x="4663440" y="123444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FEFBF5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52" name="Text 1152"/>
          <p:cNvSpPr txBox="1"/>
          <p:nvPr/>
        </p:nvSpPr>
        <p:spPr>
          <a:xfrm>
            <a:off x="4800600" y="12801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77 ms</a:t>
            </a:r>
          </a:p>
        </p:txBody>
      </p:sp>
      <p:sp>
        <p:nvSpPr>
          <p:cNvPr id="1153" name="Text 1153"/>
          <p:cNvSpPr txBox="1"/>
          <p:nvPr/>
        </p:nvSpPr>
        <p:spPr>
          <a:xfrm>
            <a:off x="4800600" y="178308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warm page TTFB from Malaysia (server ~3 ms)</a:t>
            </a:r>
          </a:p>
        </p:txBody>
      </p:sp>
      <p:sp>
        <p:nvSpPr>
          <p:cNvPr id="1154" name="Callout 1154"/>
          <p:cNvSpPr/>
          <p:nvPr/>
        </p:nvSpPr>
        <p:spPr>
          <a:xfrm>
            <a:off x="6766560" y="123444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FEFBF5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55" name="Text 1155"/>
          <p:cNvSpPr txBox="1"/>
          <p:nvPr/>
        </p:nvSpPr>
        <p:spPr>
          <a:xfrm>
            <a:off x="6903720" y="12801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292 pass</a:t>
            </a:r>
          </a:p>
        </p:txBody>
      </p:sp>
      <p:sp>
        <p:nvSpPr>
          <p:cNvPr id="1156" name="Text 1156"/>
          <p:cNvSpPr txBox="1"/>
          <p:nvPr/>
        </p:nvSpPr>
        <p:spPr>
          <a:xfrm>
            <a:off x="6903720" y="178308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0 failures; 6 skips need the Firestore emulator</a:t>
            </a:r>
          </a:p>
        </p:txBody>
      </p:sp>
      <p:graphicFrame>
        <p:nvGraphicFramePr>
          <p:cNvPr id="1157" name="Metrics table 1157"/>
          <p:cNvGraphicFramePr>
            <a:graphicFrameLocks noGrp="1"/>
          </p:cNvGraphicFramePr>
          <p:nvPr/>
        </p:nvGraphicFramePr>
        <p:xfrm>
          <a:off x="457200" y="2514600"/>
          <a:ext cx="4480560" cy="2121408"/>
        </p:xfrm>
        <a:graphic>
          <a:graphicData uri="http://schemas.openxmlformats.org/drawingml/2006/table">
            <a:tbl>
              <a:tblPr firstRow="1" bandRow="1"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Lighthouse (median of 3)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Mobile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Desktop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1B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Performance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75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89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Accessibility / Best Practices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100 / 100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100 / 100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SEO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91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91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First Contentful Paint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1.5 s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0.43 s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Largest Contentful Paint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B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D95241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12.2 s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B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D95241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2.2 s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BE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Total Blocking Time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12 ms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0 ms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 SemiBold"/>
                          <a:ea typeface="Google Sans Flex SemiBold"/>
                          <a:cs typeface="Google Sans Flex SemiBold"/>
                          <a:sym typeface="Google Sans Flex SemiBold"/>
                        </a:rPr>
                        <a:t>Cumulative Layout Shift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0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B2A3A"/>
                          </a:solidFill>
                          <a:latin typeface="Google Sans Flex"/>
                          <a:ea typeface="Google Sans Flex"/>
                          <a:cs typeface="Google Sans Flex"/>
                          <a:sym typeface="Google Sans Flex"/>
                        </a:rPr>
                        <a:t>0.003</a:t>
                      </a:r>
                    </a:p>
                  </a:txBody>
                  <a:tcPr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6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6DCE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58" name="Text 1158"/>
          <p:cNvSpPr txBox="1"/>
          <p:nvPr/>
        </p:nvSpPr>
        <p:spPr>
          <a:xfrm>
            <a:off x="5212080" y="251460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How we measured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18 Oct 2026, live Cloud Run URL (asia-southeast1, scales to zero). Lighthouse 12.8.2 x3 per preset; curl x10 sequential from Malaysia; 7 sequential Gemini chat calls.</a:t>
            </a:r>
          </a:p>
        </p:txBody>
      </p:sp>
      <p:sp>
        <p:nvSpPr>
          <p:cNvPr id="1159" name="Next note 1159"/>
          <p:cNvSpPr/>
          <p:nvPr/>
        </p:nvSpPr>
        <p:spPr>
          <a:xfrm>
            <a:off x="5212080" y="384048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60" name="Text 1160"/>
          <p:cNvSpPr txBox="1"/>
          <p:nvPr/>
        </p:nvSpPr>
        <p:spPr>
          <a:xfrm>
            <a:off x="5349240" y="388620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20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Next: compress images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Mobile LCP is 12.2 s from 2.6 MB of PNG/JPG. WebP/AVIF and responsive sizes save ~1.2 MB.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52" name="RoomDrop logo 1152" descr="RoomDrop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1242" y="640080"/>
            <a:ext cx="1521278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Roadmap card 1153"/>
          <p:cNvSpPr/>
          <p:nvPr/>
        </p:nvSpPr>
        <p:spPr>
          <a:xfrm>
            <a:off x="457200" y="123444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54" name="Roadmap number 1154"/>
          <p:cNvSpPr/>
          <p:nvPr/>
        </p:nvSpPr>
        <p:spPr>
          <a:xfrm>
            <a:off x="585216" y="1371600"/>
            <a:ext cx="310896" cy="310896"/>
          </a:xfrm>
          <a:prstGeom prst="ellipse">
            <a:avLst/>
          </a:prstGeom>
          <a:solidFill>
            <a:srgbClr val="D9524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1</a:t>
            </a:r>
          </a:p>
        </p:txBody>
      </p:sp>
      <p:sp>
        <p:nvSpPr>
          <p:cNvPr id="1155" name="Text 1155"/>
          <p:cNvSpPr txBox="1"/>
          <p:nvPr/>
        </p:nvSpPr>
        <p:spPr>
          <a:xfrm>
            <a:off x="1005840" y="1344168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Share-link intake</a:t>
            </a:r>
          </a:p>
        </p:txBody>
      </p:sp>
      <p:sp>
        <p:nvSpPr>
          <p:cNvPr id="1156" name="Text 1156"/>
          <p:cNvSpPr txBox="1"/>
          <p:nvPr/>
        </p:nvSpPr>
        <p:spPr>
          <a:xfrm>
            <a:off x="1005840" y="1709928"/>
            <a:ext cx="1810512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Agent sends an Altovo link; booking and drops persist in Firestore</a:t>
            </a:r>
          </a:p>
        </p:txBody>
      </p:sp>
      <p:sp>
        <p:nvSpPr>
          <p:cNvPr id="1157" name="Roadmap card 1157"/>
          <p:cNvSpPr/>
          <p:nvPr/>
        </p:nvSpPr>
        <p:spPr>
          <a:xfrm>
            <a:off x="3108960" y="123444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58" name="Roadmap number 1158"/>
          <p:cNvSpPr/>
          <p:nvPr/>
        </p:nvSpPr>
        <p:spPr>
          <a:xfrm>
            <a:off x="3236976" y="1371600"/>
            <a:ext cx="310896" cy="310896"/>
          </a:xfrm>
          <a:prstGeom prst="ellipse">
            <a:avLst/>
          </a:prstGeom>
          <a:solidFill>
            <a:srgbClr val="D9524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2</a:t>
            </a:r>
          </a:p>
        </p:txBody>
      </p:sp>
      <p:sp>
        <p:nvSpPr>
          <p:cNvPr id="1159" name="Text 1159"/>
          <p:cNvSpPr txBox="1"/>
          <p:nvPr/>
        </p:nvSpPr>
        <p:spPr>
          <a:xfrm>
            <a:off x="3657600" y="1344168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Scheduled Drop Watch</a:t>
            </a:r>
          </a:p>
        </p:txBody>
      </p:sp>
      <p:sp>
        <p:nvSpPr>
          <p:cNvPr id="1160" name="Text 1160"/>
          <p:cNvSpPr txBox="1"/>
          <p:nvPr/>
        </p:nvSpPr>
        <p:spPr>
          <a:xfrm>
            <a:off x="3657600" y="1709928"/>
            <a:ext cx="1810512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Scheduler runs the price-watch job daily on live supplier rates</a:t>
            </a:r>
          </a:p>
        </p:txBody>
      </p:sp>
      <p:sp>
        <p:nvSpPr>
          <p:cNvPr id="1161" name="Roadmap card 1161"/>
          <p:cNvSpPr/>
          <p:nvPr/>
        </p:nvSpPr>
        <p:spPr>
          <a:xfrm>
            <a:off x="457200" y="2450592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62" name="Roadmap number 1162"/>
          <p:cNvSpPr/>
          <p:nvPr/>
        </p:nvSpPr>
        <p:spPr>
          <a:xfrm>
            <a:off x="585216" y="2587752"/>
            <a:ext cx="310896" cy="310896"/>
          </a:xfrm>
          <a:prstGeom prst="ellipse">
            <a:avLst/>
          </a:prstGeom>
          <a:solidFill>
            <a:srgbClr val="D9524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3</a:t>
            </a:r>
          </a:p>
        </p:txBody>
      </p:sp>
      <p:sp>
        <p:nvSpPr>
          <p:cNvPr id="1163" name="Text 1163"/>
          <p:cNvSpPr txBox="1"/>
          <p:nvPr/>
        </p:nvSpPr>
        <p:spPr>
          <a:xfrm>
            <a:off x="1005840" y="256032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Drop alerts</a:t>
            </a:r>
          </a:p>
        </p:txBody>
      </p:sp>
      <p:sp>
        <p:nvSpPr>
          <p:cNvPr id="1164" name="Text 1164"/>
          <p:cNvSpPr txBox="1"/>
          <p:nvPr/>
        </p:nvSpPr>
        <p:spPr>
          <a:xfrm>
            <a:off x="1005840" y="2926080"/>
            <a:ext cx="1810512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Notify when a drop beats the traveller's minimum saving</a:t>
            </a:r>
          </a:p>
        </p:txBody>
      </p:sp>
      <p:sp>
        <p:nvSpPr>
          <p:cNvPr id="1165" name="Roadmap card 1165"/>
          <p:cNvSpPr/>
          <p:nvPr/>
        </p:nvSpPr>
        <p:spPr>
          <a:xfrm>
            <a:off x="3108960" y="2450592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66" name="Roadmap number 1166"/>
          <p:cNvSpPr/>
          <p:nvPr/>
        </p:nvSpPr>
        <p:spPr>
          <a:xfrm>
            <a:off x="3236976" y="2587752"/>
            <a:ext cx="310896" cy="310896"/>
          </a:xfrm>
          <a:prstGeom prst="ellipse">
            <a:avLst/>
          </a:prstGeom>
          <a:solidFill>
            <a:srgbClr val="D9524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4</a:t>
            </a:r>
          </a:p>
        </p:txBody>
      </p:sp>
      <p:sp>
        <p:nvSpPr>
          <p:cNvPr id="1167" name="Text 1167"/>
          <p:cNvSpPr txBox="1"/>
          <p:nvPr/>
        </p:nvSpPr>
        <p:spPr>
          <a:xfrm>
            <a:off x="3657600" y="2560320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Real rebooking</a:t>
            </a:r>
          </a:p>
        </p:txBody>
      </p:sp>
      <p:sp>
        <p:nvSpPr>
          <p:cNvPr id="1168" name="Text 1168"/>
          <p:cNvSpPr txBox="1"/>
          <p:nvPr/>
        </p:nvSpPr>
        <p:spPr>
          <a:xfrm>
            <a:off x="3657600" y="2926080"/>
            <a:ext cx="1810512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Turn a chosen drop into a new booking, cancel the old one, refund</a:t>
            </a:r>
          </a:p>
        </p:txBody>
      </p:sp>
      <p:sp>
        <p:nvSpPr>
          <p:cNvPr id="1169" name="Roadmap card 1169"/>
          <p:cNvSpPr/>
          <p:nvPr/>
        </p:nvSpPr>
        <p:spPr>
          <a:xfrm>
            <a:off x="457200" y="3666744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70" name="Roadmap number 1170"/>
          <p:cNvSpPr/>
          <p:nvPr/>
        </p:nvSpPr>
        <p:spPr>
          <a:xfrm>
            <a:off x="585216" y="3803904"/>
            <a:ext cx="310896" cy="310896"/>
          </a:xfrm>
          <a:prstGeom prst="ellipse">
            <a:avLst/>
          </a:prstGeom>
          <a:solidFill>
            <a:srgbClr val="D9524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5</a:t>
            </a:r>
          </a:p>
        </p:txBody>
      </p:sp>
      <p:sp>
        <p:nvSpPr>
          <p:cNvPr id="1171" name="Text 1171"/>
          <p:cNvSpPr txBox="1"/>
          <p:nvPr/>
        </p:nvSpPr>
        <p:spPr>
          <a:xfrm>
            <a:off x="1005840" y="3776472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Traveller sign-in</a:t>
            </a:r>
          </a:p>
        </p:txBody>
      </p:sp>
      <p:sp>
        <p:nvSpPr>
          <p:cNvPr id="1172" name="Text 1172"/>
          <p:cNvSpPr txBox="1"/>
          <p:nvPr/>
        </p:nvSpPr>
        <p:spPr>
          <a:xfrm>
            <a:off x="1005840" y="4142232"/>
            <a:ext cx="1810512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Invitations and identity so travellers can return to their drops</a:t>
            </a:r>
          </a:p>
        </p:txBody>
      </p:sp>
      <p:sp>
        <p:nvSpPr>
          <p:cNvPr id="1173" name="Roadmap card 1173"/>
          <p:cNvSpPr/>
          <p:nvPr/>
        </p:nvSpPr>
        <p:spPr>
          <a:xfrm>
            <a:off x="3108960" y="3666744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74" name="Roadmap number 1174"/>
          <p:cNvSpPr/>
          <p:nvPr/>
        </p:nvSpPr>
        <p:spPr>
          <a:xfrm>
            <a:off x="3236976" y="3803904"/>
            <a:ext cx="310896" cy="310896"/>
          </a:xfrm>
          <a:prstGeom prst="ellipse">
            <a:avLst/>
          </a:prstGeom>
          <a:solidFill>
            <a:srgbClr val="D9524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6</a:t>
            </a:r>
          </a:p>
        </p:txBody>
      </p:sp>
      <p:sp>
        <p:nvSpPr>
          <p:cNvPr id="1175" name="Text 1175"/>
          <p:cNvSpPr txBox="1"/>
          <p:nvPr/>
        </p:nvSpPr>
        <p:spPr>
          <a:xfrm>
            <a:off x="3657600" y="3776472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Agency actions</a:t>
            </a:r>
          </a:p>
        </p:txBody>
      </p:sp>
      <p:sp>
        <p:nvSpPr>
          <p:cNvPr id="1176" name="Text 1176"/>
          <p:cNvSpPr txBox="1"/>
          <p:nvPr/>
        </p:nvSpPr>
        <p:spPr>
          <a:xfrm>
            <a:off x="3657600" y="4142232"/>
            <a:ext cx="1810512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5A667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Act on cases from the IAP console; October UX review fixes</a:t>
            </a:r>
          </a:p>
        </p:txBody>
      </p:sp>
      <p:sp>
        <p:nvSpPr>
          <p:cNvPr id="1177" name="Guardrails 1177"/>
          <p:cNvSpPr/>
          <p:nvPr/>
        </p:nvSpPr>
        <p:spPr>
          <a:xfrm>
            <a:off x="5760720" y="1234440"/>
            <a:ext cx="2926080" cy="3529584"/>
          </a:xfrm>
          <a:prstGeom prst="roundRect">
            <a:avLst>
              <a:gd name="adj" fmla="val 3750"/>
            </a:avLst>
          </a:prstGeom>
          <a:solidFill>
            <a:srgbClr val="FEFBF5"/>
          </a:solidFill>
          <a:ln w="9525">
            <a:solidFill>
              <a:srgbClr val="D6DCE3"/>
            </a:solidFill>
            <a:round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78" name="Icon badge 1178"/>
          <p:cNvSpPr/>
          <p:nvPr/>
        </p:nvSpPr>
        <p:spPr>
          <a:xfrm>
            <a:off x="5925312" y="1380744"/>
            <a:ext cx="365760" cy="365760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79" name="Icon shield 1179"/>
          <p:cNvSpPr/>
          <p:nvPr/>
        </p:nvSpPr>
        <p:spPr>
          <a:xfrm>
            <a:off x="6013094" y="1468526"/>
            <a:ext cx="190195" cy="190195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50" y="0"/>
                </a:moveTo>
                <a:lnTo>
                  <a:pt x="94" y="16"/>
                </a:lnTo>
                <a:lnTo>
                  <a:pt x="94" y="48"/>
                </a:lnTo>
                <a:cubicBezTo>
                  <a:pt x="94" y="74"/>
                  <a:pt x="76" y="92"/>
                  <a:pt x="50" y="100"/>
                </a:cubicBezTo>
                <a:cubicBezTo>
                  <a:pt x="24" y="92"/>
                  <a:pt x="6" y="74"/>
                  <a:pt x="6" y="48"/>
                </a:cubicBezTo>
                <a:lnTo>
                  <a:pt x="6" y="16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80" name="Text 1180"/>
          <p:cNvSpPr txBox="1"/>
          <p:nvPr/>
        </p:nvSpPr>
        <p:spPr>
          <a:xfrm>
            <a:off x="6382512" y="1380744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Trust guardrails, live</a:t>
            </a:r>
          </a:p>
        </p:txBody>
      </p:sp>
      <p:sp>
        <p:nvSpPr>
          <p:cNvPr id="1181" name="Check 1181"/>
          <p:cNvSpPr/>
          <p:nvPr/>
        </p:nvSpPr>
        <p:spPr>
          <a:xfrm>
            <a:off x="5961888" y="1938528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8" y="52"/>
                </a:moveTo>
                <a:lnTo>
                  <a:pt x="22" y="38"/>
                </a:lnTo>
                <a:lnTo>
                  <a:pt x="40" y="56"/>
                </a:lnTo>
                <a:lnTo>
                  <a:pt x="78" y="18"/>
                </a:lnTo>
                <a:lnTo>
                  <a:pt x="92" y="32"/>
                </a:lnTo>
                <a:lnTo>
                  <a:pt x="40" y="84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82" name="Text 1182"/>
          <p:cNvSpPr txBox="1"/>
          <p:nvPr/>
        </p:nvSpPr>
        <p:spPr>
          <a:xfrm>
            <a:off x="6263640" y="1892808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replies are schema-bound IDs, re-validated by the server</a:t>
            </a:r>
          </a:p>
        </p:txBody>
      </p:sp>
      <p:sp>
        <p:nvSpPr>
          <p:cNvPr id="1183" name="Check 1183"/>
          <p:cNvSpPr/>
          <p:nvPr/>
        </p:nvSpPr>
        <p:spPr>
          <a:xfrm>
            <a:off x="5961888" y="2414016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8" y="52"/>
                </a:moveTo>
                <a:lnTo>
                  <a:pt x="22" y="38"/>
                </a:lnTo>
                <a:lnTo>
                  <a:pt x="40" y="56"/>
                </a:lnTo>
                <a:lnTo>
                  <a:pt x="78" y="18"/>
                </a:lnTo>
                <a:lnTo>
                  <a:pt x="92" y="32"/>
                </a:lnTo>
                <a:lnTo>
                  <a:pt x="40" y="84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84" name="Text 1184"/>
          <p:cNvSpPr txBox="1"/>
          <p:nvPr/>
        </p:nvSpPr>
        <p:spPr>
          <a:xfrm>
            <a:off x="6263640" y="2368296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Money is computed by code, never by the model</a:t>
            </a:r>
          </a:p>
        </p:txBody>
      </p:sp>
      <p:sp>
        <p:nvSpPr>
          <p:cNvPr id="1185" name="Check 1185"/>
          <p:cNvSpPr/>
          <p:nvPr/>
        </p:nvSpPr>
        <p:spPr>
          <a:xfrm>
            <a:off x="5961888" y="2889504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8" y="52"/>
                </a:moveTo>
                <a:lnTo>
                  <a:pt x="22" y="38"/>
                </a:lnTo>
                <a:lnTo>
                  <a:pt x="40" y="56"/>
                </a:lnTo>
                <a:lnTo>
                  <a:pt x="78" y="18"/>
                </a:lnTo>
                <a:lnTo>
                  <a:pt x="92" y="32"/>
                </a:lnTo>
                <a:lnTo>
                  <a:pt x="40" y="84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86" name="Text 1186"/>
          <p:cNvSpPr txBox="1"/>
          <p:nvPr/>
        </p:nvSpPr>
        <p:spPr>
          <a:xfrm>
            <a:off x="6263640" y="2843784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Only allowlisted facts reach Vertex AI; no guest data</a:t>
            </a:r>
          </a:p>
        </p:txBody>
      </p:sp>
      <p:sp>
        <p:nvSpPr>
          <p:cNvPr id="1187" name="Check 1187"/>
          <p:cNvSpPr/>
          <p:nvPr/>
        </p:nvSpPr>
        <p:spPr>
          <a:xfrm>
            <a:off x="5961888" y="3364992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8" y="52"/>
                </a:moveTo>
                <a:lnTo>
                  <a:pt x="22" y="38"/>
                </a:lnTo>
                <a:lnTo>
                  <a:pt x="40" y="56"/>
                </a:lnTo>
                <a:lnTo>
                  <a:pt x="78" y="18"/>
                </a:lnTo>
                <a:lnTo>
                  <a:pt x="92" y="32"/>
                </a:lnTo>
                <a:lnTo>
                  <a:pt x="40" y="84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88" name="Text 1188"/>
          <p:cNvSpPr txBox="1"/>
          <p:nvPr/>
        </p:nvSpPr>
        <p:spPr>
          <a:xfrm>
            <a:off x="6263640" y="3319272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Selection only: no booking, payment or refund routes</a:t>
            </a:r>
          </a:p>
        </p:txBody>
      </p:sp>
      <p:sp>
        <p:nvSpPr>
          <p:cNvPr id="1189" name="Check 1189"/>
          <p:cNvSpPr/>
          <p:nvPr/>
        </p:nvSpPr>
        <p:spPr>
          <a:xfrm>
            <a:off x="5961888" y="3840480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8" y="52"/>
                </a:moveTo>
                <a:lnTo>
                  <a:pt x="22" y="38"/>
                </a:lnTo>
                <a:lnTo>
                  <a:pt x="40" y="56"/>
                </a:lnTo>
                <a:lnTo>
                  <a:pt x="78" y="18"/>
                </a:lnTo>
                <a:lnTo>
                  <a:pt x="92" y="32"/>
                </a:lnTo>
                <a:lnTo>
                  <a:pt x="40" y="84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90" name="Text 1190"/>
          <p:cNvSpPr txBox="1"/>
          <p:nvPr/>
        </p:nvSpPr>
        <p:spPr>
          <a:xfrm>
            <a:off x="6263640" y="3794760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Non-refundable drops need an explicit tick</a:t>
            </a:r>
          </a:p>
        </p:txBody>
      </p:sp>
      <p:sp>
        <p:nvSpPr>
          <p:cNvPr id="1191" name="Check 1191"/>
          <p:cNvSpPr/>
          <p:nvPr/>
        </p:nvSpPr>
        <p:spPr>
          <a:xfrm>
            <a:off x="5961888" y="4315968"/>
            <a:ext cx="182880" cy="182880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8" y="52"/>
                </a:moveTo>
                <a:lnTo>
                  <a:pt x="22" y="38"/>
                </a:lnTo>
                <a:lnTo>
                  <a:pt x="40" y="56"/>
                </a:lnTo>
                <a:lnTo>
                  <a:pt x="78" y="18"/>
                </a:lnTo>
                <a:lnTo>
                  <a:pt x="92" y="32"/>
                </a:lnTo>
                <a:lnTo>
                  <a:pt x="40" y="84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92" name="Text 1192"/>
          <p:cNvSpPr txBox="1"/>
          <p:nvPr/>
        </p:nvSpPr>
        <p:spPr>
          <a:xfrm>
            <a:off x="6263640" y="4270248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B2A3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 service-account keys; agency behind IAP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60" name="RoomDrop logo 1160" descr="RoomDrop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1242" y="640080"/>
            <a:ext cx="1521278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Link row 1161"/>
          <p:cNvSpPr/>
          <p:nvPr/>
        </p:nvSpPr>
        <p:spPr>
          <a:xfrm>
            <a:off x="548640" y="1371600"/>
            <a:ext cx="804672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62" name="Icon badge 1162"/>
          <p:cNvSpPr/>
          <p:nvPr/>
        </p:nvSpPr>
        <p:spPr>
          <a:xfrm>
            <a:off x="731520" y="1545336"/>
            <a:ext cx="438912" cy="438912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63" name="Icon code 1163"/>
          <p:cNvSpPr/>
          <p:nvPr/>
        </p:nvSpPr>
        <p:spPr>
          <a:xfrm>
            <a:off x="836859" y="1650675"/>
            <a:ext cx="228234" cy="228234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30" y="20"/>
                </a:moveTo>
                <a:lnTo>
                  <a:pt x="40" y="30"/>
                </a:lnTo>
                <a:lnTo>
                  <a:pt x="20" y="50"/>
                </a:lnTo>
                <a:lnTo>
                  <a:pt x="40" y="70"/>
                </a:lnTo>
                <a:lnTo>
                  <a:pt x="30" y="80"/>
                </a:lnTo>
                <a:lnTo>
                  <a:pt x="0" y="50"/>
                </a:lnTo>
                <a:close/>
              </a:path>
              <a:path w="100" h="100">
                <a:moveTo>
                  <a:pt x="70" y="20"/>
                </a:moveTo>
                <a:lnTo>
                  <a:pt x="100" y="50"/>
                </a:lnTo>
                <a:lnTo>
                  <a:pt x="70" y="80"/>
                </a:lnTo>
                <a:lnTo>
                  <a:pt x="60" y="70"/>
                </a:lnTo>
                <a:lnTo>
                  <a:pt x="80" y="50"/>
                </a:lnTo>
                <a:lnTo>
                  <a:pt x="60" y="30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64" name="Text 1164"/>
          <p:cNvSpPr txBox="1"/>
          <p:nvPr/>
        </p:nvSpPr>
        <p:spPr>
          <a:xfrm>
            <a:off x="1325880" y="137160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GitHub Public Repository</a:t>
            </a:r>
          </a:p>
        </p:txBody>
      </p:sp>
      <p:sp>
        <p:nvSpPr>
          <p:cNvPr id="1165" name="Text 1165"/>
          <p:cNvSpPr txBox="1"/>
          <p:nvPr/>
        </p:nvSpPr>
        <p:spPr>
          <a:xfrm>
            <a:off x="4160520" y="1371600"/>
            <a:ext cx="42976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u="sng">
                <a:solidFill>
                  <a:srgbClr val="1B2A3A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  <a:hlinkClick r:id="rId6"/>
              </a:rPr>
              <a:t>github.com/pohlipit23/hotel-price-hunter</a:t>
            </a:r>
          </a:p>
        </p:txBody>
      </p:sp>
      <p:sp>
        <p:nvSpPr>
          <p:cNvPr id="1166" name="Link row 1166"/>
          <p:cNvSpPr/>
          <p:nvPr/>
        </p:nvSpPr>
        <p:spPr>
          <a:xfrm>
            <a:off x="548640" y="2377440"/>
            <a:ext cx="804672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67" name="Icon badge 1167"/>
          <p:cNvSpPr/>
          <p:nvPr/>
        </p:nvSpPr>
        <p:spPr>
          <a:xfrm>
            <a:off x="731520" y="2551176"/>
            <a:ext cx="438912" cy="438912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68" name="Icon play 1168"/>
          <p:cNvSpPr/>
          <p:nvPr/>
        </p:nvSpPr>
        <p:spPr>
          <a:xfrm>
            <a:off x="836859" y="2656515"/>
            <a:ext cx="228234" cy="228234"/>
          </a:xfrm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20" y="8"/>
                </a:moveTo>
                <a:lnTo>
                  <a:pt x="90" y="50"/>
                </a:lnTo>
                <a:lnTo>
                  <a:pt x="20" y="92"/>
                </a:lnTo>
                <a:close/>
              </a:path>
            </a:pathLst>
          </a:custGeom>
          <a:solidFill>
            <a:srgbClr val="D95241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69" name="Text 1169"/>
          <p:cNvSpPr txBox="1"/>
          <p:nvPr/>
        </p:nvSpPr>
        <p:spPr>
          <a:xfrm>
            <a:off x="1325880" y="237744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Demo Video Link (3 Minutes)</a:t>
            </a:r>
          </a:p>
        </p:txBody>
      </p:sp>
      <p:sp>
        <p:nvSpPr>
          <p:cNvPr id="1170" name="Demo link placeholder 1170"/>
          <p:cNvSpPr/>
          <p:nvPr/>
        </p:nvSpPr>
        <p:spPr>
          <a:xfrm>
            <a:off x="4023360" y="2532888"/>
            <a:ext cx="4343400" cy="475488"/>
          </a:xfrm>
          <a:prstGeom prst="roundRect">
            <a:avLst>
              <a:gd name="adj" fmla="val 30000"/>
            </a:avLst>
          </a:prstGeom>
          <a:solidFill>
            <a:srgbClr val="FFF3C4"/>
          </a:solidFill>
          <a:ln w="19050">
            <a:solidFill>
              <a:srgbClr val="D95241"/>
            </a:solidFill>
            <a:prstDash val="dash"/>
            <a:round/>
          </a:ln>
        </p:spPr>
        <p:txBody>
          <a:bodyPr wrap="square" lIns="137160" tIns="0" rIns="9144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[add link - 3 to 4 min demo]</a:t>
            </a:r>
          </a:p>
        </p:txBody>
      </p:sp>
      <p:sp>
        <p:nvSpPr>
          <p:cNvPr id="1171" name="Link row 1171"/>
          <p:cNvSpPr/>
          <p:nvPr/>
        </p:nvSpPr>
        <p:spPr>
          <a:xfrm>
            <a:off x="548640" y="3383280"/>
            <a:ext cx="804672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D6DCE3"/>
            </a:solidFill>
            <a:round/>
          </a:ln>
          <a:effectLst>
            <a:outerShdw blurRad="73152" dist="18288" dir="5400000" algn="t" rotWithShape="0">
              <a:srgbClr val="1B2A3A">
                <a:alpha val="12000"/>
              </a:srgbClr>
            </a:outerShdw>
          </a:effectLst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sp>
        <p:nvSpPr>
          <p:cNvPr id="1172" name="Icon badge 1172"/>
          <p:cNvSpPr/>
          <p:nvPr/>
        </p:nvSpPr>
        <p:spPr>
          <a:xfrm>
            <a:off x="731520" y="3557016"/>
            <a:ext cx="438912" cy="438912"/>
          </a:xfrm>
          <a:prstGeom prst="ellipse">
            <a:avLst/>
          </a:prstGeom>
          <a:solidFill>
            <a:srgbClr val="FBEAE6"/>
          </a:solidFill>
          <a:ln>
            <a:noFill/>
          </a:ln>
        </p:spPr>
        <p:txBody>
          <a:bodyPr wrap="square" lIns="54864" tIns="36576" rIns="54864" bIns="36576" rtlCol="0" anchor="t">
            <a:noAutofit/>
          </a:bodyPr>
          <a:lstStyle/>
          <a:p>
            <a:endParaRPr lang="en-GB" sz="1000"/>
          </a:p>
        </p:txBody>
      </p:sp>
      <p:pic>
        <p:nvPicPr>
          <p:cNvPr id="1173" name="Key icon 117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3711401"/>
            <a:ext cx="329184" cy="130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Text 1174"/>
          <p:cNvSpPr txBox="1"/>
          <p:nvPr/>
        </p:nvSpPr>
        <p:spPr>
          <a:xfrm>
            <a:off x="1325880" y="338328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Final Product Link</a:t>
            </a:r>
          </a:p>
        </p:txBody>
      </p:sp>
      <p:sp>
        <p:nvSpPr>
          <p:cNvPr id="1175" name="Text 1175"/>
          <p:cNvSpPr txBox="1"/>
          <p:nvPr/>
        </p:nvSpPr>
        <p:spPr>
          <a:xfrm>
            <a:off x="4160520" y="3383280"/>
            <a:ext cx="42976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u="sng">
                <a:solidFill>
                  <a:srgbClr val="1B2A3A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  <a:hlinkClick r:id="rId8"/>
              </a:rPr>
              <a:t>hotel-price-hunter-2qbcpylngq-as.a.run.app</a:t>
            </a:r>
          </a:p>
        </p:txBody>
      </p:sp>
      <p:sp>
        <p:nvSpPr>
          <p:cNvPr id="1176" name="Text 1176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1B2A3A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Book early. </a:t>
            </a:r>
            <a:r>
              <a:rPr lang="en-GB" sz="1400">
                <a:solidFill>
                  <a:srgbClr val="D95241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Still catch the drop.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1200</Words>
  <Application>Microsoft Office PowerPoint</Application>
  <PresentationFormat>On-screen Show (16:9)</PresentationFormat>
  <Paragraphs>241</Paragraphs>
  <Slides>13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Google Sans Flex</vt:lpstr>
      <vt:lpstr>Google Sans Flex SemiBold</vt:lpstr>
      <vt:lpstr>Google Sans Flex Medium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Peter Pohlschmidt</cp:lastModifiedBy>
  <cp:revision>2</cp:revision>
  <dcterms:modified xsi:type="dcterms:W3CDTF">2026-10-18T12:03:20Z</dcterms:modified>
</cp:coreProperties>
</file>